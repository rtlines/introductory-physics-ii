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1360" r:id="rId3"/>
    <p:sldId id="305" r:id="rId4"/>
    <p:sldId id="306" r:id="rId5"/>
    <p:sldId id="1375" r:id="rId6"/>
    <p:sldId id="307" r:id="rId7"/>
    <p:sldId id="308" r:id="rId8"/>
    <p:sldId id="1362" r:id="rId9"/>
    <p:sldId id="1363" r:id="rId10"/>
    <p:sldId id="1376" r:id="rId11"/>
    <p:sldId id="1364" r:id="rId12"/>
    <p:sldId id="1361" r:id="rId13"/>
    <p:sldId id="1222" r:id="rId14"/>
    <p:sldId id="1223" r:id="rId15"/>
    <p:sldId id="1365" r:id="rId16"/>
    <p:sldId id="1366" r:id="rId17"/>
    <p:sldId id="1367" r:id="rId18"/>
    <p:sldId id="1368" r:id="rId19"/>
    <p:sldId id="1369" r:id="rId20"/>
    <p:sldId id="1370" r:id="rId21"/>
    <p:sldId id="1371" r:id="rId22"/>
    <p:sldId id="299" r:id="rId23"/>
    <p:sldId id="261" r:id="rId24"/>
    <p:sldId id="300" r:id="rId25"/>
    <p:sldId id="259" r:id="rId26"/>
    <p:sldId id="301" r:id="rId27"/>
    <p:sldId id="302" r:id="rId28"/>
    <p:sldId id="303" r:id="rId29"/>
    <p:sldId id="304" r:id="rId30"/>
    <p:sldId id="1373" r:id="rId31"/>
    <p:sldId id="1374" r:id="rId32"/>
    <p:sldId id="282" r:id="rId33"/>
    <p:sldId id="280" r:id="rId34"/>
    <p:sldId id="273" r:id="rId35"/>
    <p:sldId id="274" r:id="rId36"/>
    <p:sldId id="271" r:id="rId37"/>
    <p:sldId id="257" r:id="rId38"/>
    <p:sldId id="258" r:id="rId39"/>
    <p:sldId id="270" r:id="rId40"/>
    <p:sldId id="281" r:id="rId41"/>
    <p:sldId id="275" r:id="rId42"/>
    <p:sldId id="276" r:id="rId43"/>
    <p:sldId id="263" r:id="rId44"/>
    <p:sldId id="264" r:id="rId45"/>
    <p:sldId id="265" r:id="rId46"/>
    <p:sldId id="266" r:id="rId47"/>
    <p:sldId id="267" r:id="rId48"/>
    <p:sldId id="268" r:id="rId49"/>
    <p:sldId id="269" r:id="rId50"/>
    <p:sldId id="277" r:id="rId51"/>
    <p:sldId id="278" r:id="rId52"/>
    <p:sldId id="279" r:id="rId53"/>
    <p:sldId id="272" r:id="rId5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2" y="4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9:25:34.866" v="1" actId="20577"/>
      <pc:docMkLst>
        <pc:docMk/>
      </pc:docMkLst>
      <pc:sldChg chg="modSp mod">
        <pc:chgData name="Todd Lines" userId="afaf7c3a-e8aa-4568-882a-02ad8f9e19b0" providerId="ADAL" clId="{5FF5AC1B-ABA9-43D7-A1E3-2D92732CD6E2}" dt="2026-08-26T19:25:34.866" v="1" actId="20577"/>
        <pc:sldMkLst>
          <pc:docMk/>
          <pc:sldMk cId="0" sldId="256"/>
        </pc:sldMkLst>
        <pc:spChg chg="mod">
          <ac:chgData name="Todd Lines" userId="afaf7c3a-e8aa-4568-882a-02ad8f9e19b0" providerId="ADAL" clId="{5FF5AC1B-ABA9-43D7-A1E3-2D92732CD6E2}" dt="2026-08-26T19:25:34.866" v="1" actId="20577"/>
          <ac:spMkLst>
            <pc:docMk/>
            <pc:sldMk cId="0" sldId="256"/>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F921DA0-3959-400E-BCC9-610103B176CA}" type="datetimeFigureOut">
              <a:rPr lang="en-US" smtClean="0"/>
              <a:t>8/26/2026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7E8DE77-3AF9-4772-80F5-4325AB4CF642}" type="slidenum">
              <a:rPr lang="en-US" smtClean="0"/>
              <a:t>‹#›</a:t>
            </a:fld>
            <a:endParaRPr lang="en-US"/>
          </a:p>
        </p:txBody>
      </p:sp>
    </p:spTree>
    <p:extLst>
      <p:ext uri="{BB962C8B-B14F-4D97-AF65-F5344CB8AC3E}">
        <p14:creationId xmlns:p14="http://schemas.microsoft.com/office/powerpoint/2010/main" val="2615668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7D45037-B36C-428B-80E4-B5F1332A92C9}" type="slidenum">
              <a:rPr lang="en-US" smtClean="0"/>
              <a:pPr/>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42CD092-2F4B-4E60-96D4-3331B887203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2CD092-2F4B-4E60-96D4-3331B887203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42CD092-2F4B-4E60-96D4-3331B887203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42CD092-2F4B-4E60-96D4-3331B887203B}"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42CD092-2F4B-4E60-96D4-3331B887203B}"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2CD092-2F4B-4E60-96D4-3331B887203B}"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2CD092-2F4B-4E60-96D4-3331B887203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2CD092-2F4B-4E60-96D4-3331B887203B}"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1DBAEE0-9797-46AF-A754-9F96C666F796}"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2CD092-2F4B-4E60-96D4-3331B887203B}"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6120B3-6C5C-4910-8C56-FF68C23C2D0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gi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18.wmf"/><Relationship Id="rId4" Type="http://schemas.openxmlformats.org/officeDocument/2006/relationships/oleObject" Target="../embeddings/oleObject2.bin"/></Relationships>
</file>

<file path=ppt/slides/_rels/slide3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19.wmf"/><Relationship Id="rId4" Type="http://schemas.openxmlformats.org/officeDocument/2006/relationships/oleObject" Target="../embeddings/oleObject4.bin"/></Relationships>
</file>

<file path=ppt/slides/_rels/slide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5.bin"/><Relationship Id="rId1" Type="http://schemas.openxmlformats.org/officeDocument/2006/relationships/slideLayout" Target="../slideLayouts/slideLayout2.xml"/><Relationship Id="rId5" Type="http://schemas.openxmlformats.org/officeDocument/2006/relationships/image" Target="../media/image21.wmf"/><Relationship Id="rId4" Type="http://schemas.openxmlformats.org/officeDocument/2006/relationships/oleObject" Target="../embeddings/oleObject6.bin"/></Relationships>
</file>

<file path=ppt/slides/_rels/slide46.xml.rels><?xml version="1.0" encoding="UTF-8" standalone="yes"?>
<Relationships xmlns="http://schemas.openxmlformats.org/package/2006/relationships"><Relationship Id="rId3" Type="http://schemas.openxmlformats.org/officeDocument/2006/relationships/image" Target="../media/image22.wmf"/><Relationship Id="rId7" Type="http://schemas.openxmlformats.org/officeDocument/2006/relationships/image" Target="../media/image24.wmf"/><Relationship Id="rId2" Type="http://schemas.openxmlformats.org/officeDocument/2006/relationships/oleObject" Target="../embeddings/oleObject7.bin"/><Relationship Id="rId1" Type="http://schemas.openxmlformats.org/officeDocument/2006/relationships/slideLayout" Target="../slideLayouts/slideLayout2.xml"/><Relationship Id="rId6" Type="http://schemas.openxmlformats.org/officeDocument/2006/relationships/oleObject" Target="../embeddings/oleObject9.bin"/><Relationship Id="rId5" Type="http://schemas.openxmlformats.org/officeDocument/2006/relationships/image" Target="../media/image23.wmf"/><Relationship Id="rId4" Type="http://schemas.openxmlformats.org/officeDocument/2006/relationships/oleObject" Target="../embeddings/oleObject8.bin"/></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image" Target="../media/image25.wmf"/><Relationship Id="rId7" Type="http://schemas.openxmlformats.org/officeDocument/2006/relationships/image" Target="../media/image27.wmf"/><Relationship Id="rId2" Type="http://schemas.openxmlformats.org/officeDocument/2006/relationships/oleObject" Target="../embeddings/oleObject10.bin"/><Relationship Id="rId1" Type="http://schemas.openxmlformats.org/officeDocument/2006/relationships/slideLayout" Target="../slideLayouts/slideLayout2.xml"/><Relationship Id="rId6" Type="http://schemas.openxmlformats.org/officeDocument/2006/relationships/oleObject" Target="../embeddings/oleObject12.bin"/><Relationship Id="rId11" Type="http://schemas.openxmlformats.org/officeDocument/2006/relationships/image" Target="../media/image29.wmf"/><Relationship Id="rId5" Type="http://schemas.openxmlformats.org/officeDocument/2006/relationships/image" Target="../media/image26.wmf"/><Relationship Id="rId10" Type="http://schemas.openxmlformats.org/officeDocument/2006/relationships/oleObject" Target="../embeddings/oleObject14.bin"/><Relationship Id="rId4" Type="http://schemas.openxmlformats.org/officeDocument/2006/relationships/oleObject" Target="../embeddings/oleObject11.bin"/><Relationship Id="rId9" Type="http://schemas.openxmlformats.org/officeDocument/2006/relationships/image" Target="../media/image28.wmf"/></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Lecture 20</a:t>
            </a:r>
            <a:endParaRPr lang="en-US" dirty="0"/>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a:t>
            </a:r>
          </a:p>
        </p:txBody>
      </p:sp>
      <p:sp>
        <p:nvSpPr>
          <p:cNvPr id="191492" name="Rectangle 3"/>
          <p:cNvSpPr>
            <a:spLocks noGrp="1" noChangeArrowheads="1"/>
          </p:cNvSpPr>
          <p:nvPr>
            <p:ph idx="1"/>
          </p:nvPr>
        </p:nvSpPr>
        <p:spPr>
          <a:xfrm>
            <a:off x="457200" y="1600200"/>
            <a:ext cx="6782586" cy="4525963"/>
          </a:xfrm>
        </p:spPr>
        <p:txBody>
          <a:bodyPr>
            <a:normAutofit fontScale="92500" lnSpcReduction="20000"/>
          </a:bodyPr>
          <a:lstStyle/>
          <a:p>
            <a:pPr marL="609600" indent="-609600" eaLnBrk="1" hangingPunct="1">
              <a:buFontTx/>
              <a:buNone/>
            </a:pPr>
            <a:r>
              <a:rPr lang="en-US" dirty="0"/>
              <a:t>The thickness of the film is 2 wavelengths. Will rays 1 and 2 be in phase?</a:t>
            </a:r>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2</a:t>
            </a:fld>
            <a:endParaRPr lang="en-US"/>
          </a:p>
        </p:txBody>
      </p:sp>
      <p:sp>
        <p:nvSpPr>
          <p:cNvPr id="2" name="Rectangle 1">
            <a:extLst>
              <a:ext uri="{FF2B5EF4-FFF2-40B4-BE49-F238E27FC236}">
                <a16:creationId xmlns:a16="http://schemas.microsoft.com/office/drawing/2014/main" id="{1F4324B8-A9A5-CDCB-341E-51359BE464EB}"/>
              </a:ext>
            </a:extLst>
          </p:cNvPr>
          <p:cNvSpPr/>
          <p:nvPr/>
        </p:nvSpPr>
        <p:spPr>
          <a:xfrm>
            <a:off x="2333290" y="3918723"/>
            <a:ext cx="6522720"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46662D-0CE2-0680-7849-A3231BFC1CCD}"/>
              </a:ext>
            </a:extLst>
          </p:cNvPr>
          <p:cNvSpPr/>
          <p:nvPr/>
        </p:nvSpPr>
        <p:spPr>
          <a:xfrm>
            <a:off x="2302810" y="3979683"/>
            <a:ext cx="6583680"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FB319D1A-186B-0716-CD09-BAABBBD5AD77}"/>
              </a:ext>
            </a:extLst>
          </p:cNvPr>
          <p:cNvCxnSpPr/>
          <p:nvPr/>
        </p:nvCxnSpPr>
        <p:spPr>
          <a:xfrm>
            <a:off x="3567730" y="279096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5FC132C-9A42-4D70-6E59-67E141DB86E4}"/>
              </a:ext>
            </a:extLst>
          </p:cNvPr>
          <p:cNvCxnSpPr/>
          <p:nvPr/>
        </p:nvCxnSpPr>
        <p:spPr>
          <a:xfrm>
            <a:off x="4497370" y="3918723"/>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8970DA6C-D52C-457C-9A41-E182D7B39642}"/>
              </a:ext>
            </a:extLst>
          </p:cNvPr>
          <p:cNvCxnSpPr/>
          <p:nvPr/>
        </p:nvCxnSpPr>
        <p:spPr>
          <a:xfrm flipH="1">
            <a:off x="4512610" y="280620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5A5FD0-5A7D-EC78-01D7-79B65620A537}"/>
              </a:ext>
            </a:extLst>
          </p:cNvPr>
          <p:cNvCxnSpPr/>
          <p:nvPr/>
        </p:nvCxnSpPr>
        <p:spPr>
          <a:xfrm flipH="1">
            <a:off x="4908850" y="280620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01A3ED3-4964-A9A9-C234-14EE6DFE8D1C}"/>
              </a:ext>
            </a:extLst>
          </p:cNvPr>
          <p:cNvCxnSpPr/>
          <p:nvPr/>
        </p:nvCxnSpPr>
        <p:spPr>
          <a:xfrm flipH="1">
            <a:off x="4710730" y="3933963"/>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Isosceles Triangle 8">
            <a:extLst>
              <a:ext uri="{FF2B5EF4-FFF2-40B4-BE49-F238E27FC236}">
                <a16:creationId xmlns:a16="http://schemas.microsoft.com/office/drawing/2014/main" id="{35E5A4D1-C3E0-16B0-9E39-71335F473E21}"/>
              </a:ext>
            </a:extLst>
          </p:cNvPr>
          <p:cNvSpPr/>
          <p:nvPr/>
        </p:nvSpPr>
        <p:spPr>
          <a:xfrm rot="8363335">
            <a:off x="3862530" y="3153865"/>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563C9EC-86EE-5C22-EA69-2C6D4D341C83}"/>
              </a:ext>
            </a:extLst>
          </p:cNvPr>
          <p:cNvSpPr/>
          <p:nvPr/>
        </p:nvSpPr>
        <p:spPr>
          <a:xfrm rot="2276016">
            <a:off x="5000765" y="3075284"/>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Isosceles Triangle 10">
            <a:extLst>
              <a:ext uri="{FF2B5EF4-FFF2-40B4-BE49-F238E27FC236}">
                <a16:creationId xmlns:a16="http://schemas.microsoft.com/office/drawing/2014/main" id="{E9BBEF73-FD3E-B319-45D5-EC6DE9E25111}"/>
              </a:ext>
            </a:extLst>
          </p:cNvPr>
          <p:cNvSpPr/>
          <p:nvPr/>
        </p:nvSpPr>
        <p:spPr>
          <a:xfrm rot="2276016">
            <a:off x="5241272" y="3268164"/>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31">
            <a:extLst>
              <a:ext uri="{FF2B5EF4-FFF2-40B4-BE49-F238E27FC236}">
                <a16:creationId xmlns:a16="http://schemas.microsoft.com/office/drawing/2014/main" id="{E53AA2BA-542C-3915-968B-BFD115806643}"/>
              </a:ext>
            </a:extLst>
          </p:cNvPr>
          <p:cNvSpPr/>
          <p:nvPr/>
        </p:nvSpPr>
        <p:spPr>
          <a:xfrm>
            <a:off x="8535970" y="3781563"/>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33">
            <a:extLst>
              <a:ext uri="{FF2B5EF4-FFF2-40B4-BE49-F238E27FC236}">
                <a16:creationId xmlns:a16="http://schemas.microsoft.com/office/drawing/2014/main" id="{FF67FEAA-8126-3A12-2DC9-C084443BDB26}"/>
              </a:ext>
            </a:extLst>
          </p:cNvPr>
          <p:cNvSpPr/>
          <p:nvPr/>
        </p:nvSpPr>
        <p:spPr>
          <a:xfrm flipH="1">
            <a:off x="2135170" y="3674883"/>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328BD9D-5F02-B55F-04CA-9D7E93A73CC6}"/>
              </a:ext>
            </a:extLst>
          </p:cNvPr>
          <p:cNvSpPr/>
          <p:nvPr/>
        </p:nvSpPr>
        <p:spPr>
          <a:xfrm>
            <a:off x="2226610" y="2592843"/>
            <a:ext cx="6690360" cy="28346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2308786-56B6-4C23-8DCF-5A1CB6A5ABBA}"/>
              </a:ext>
            </a:extLst>
          </p:cNvPr>
          <p:cNvSpPr txBox="1"/>
          <p:nvPr/>
        </p:nvSpPr>
        <p:spPr>
          <a:xfrm>
            <a:off x="7850170" y="3309123"/>
            <a:ext cx="538930" cy="369332"/>
          </a:xfrm>
          <a:prstGeom prst="rect">
            <a:avLst/>
          </a:prstGeom>
          <a:noFill/>
        </p:spPr>
        <p:txBody>
          <a:bodyPr wrap="none" rtlCol="0">
            <a:spAutoFit/>
          </a:bodyPr>
          <a:lstStyle/>
          <a:p>
            <a:r>
              <a:rPr lang="en-US" dirty="0"/>
              <a:t>n=1</a:t>
            </a:r>
          </a:p>
        </p:txBody>
      </p:sp>
      <p:sp>
        <p:nvSpPr>
          <p:cNvPr id="18" name="TextBox 17">
            <a:extLst>
              <a:ext uri="{FF2B5EF4-FFF2-40B4-BE49-F238E27FC236}">
                <a16:creationId xmlns:a16="http://schemas.microsoft.com/office/drawing/2014/main" id="{AC217DE3-2CA1-AE6D-3113-4F24A03B9DE2}"/>
              </a:ext>
            </a:extLst>
          </p:cNvPr>
          <p:cNvSpPr txBox="1"/>
          <p:nvPr/>
        </p:nvSpPr>
        <p:spPr>
          <a:xfrm>
            <a:off x="7850170" y="5000763"/>
            <a:ext cx="538930" cy="369332"/>
          </a:xfrm>
          <a:prstGeom prst="rect">
            <a:avLst/>
          </a:prstGeom>
          <a:noFill/>
        </p:spPr>
        <p:txBody>
          <a:bodyPr wrap="none" rtlCol="0">
            <a:spAutoFit/>
          </a:bodyPr>
          <a:lstStyle/>
          <a:p>
            <a:r>
              <a:rPr lang="en-US" dirty="0"/>
              <a:t>n=1</a:t>
            </a:r>
          </a:p>
        </p:txBody>
      </p:sp>
      <p:sp>
        <p:nvSpPr>
          <p:cNvPr id="19" name="TextBox 18">
            <a:extLst>
              <a:ext uri="{FF2B5EF4-FFF2-40B4-BE49-F238E27FC236}">
                <a16:creationId xmlns:a16="http://schemas.microsoft.com/office/drawing/2014/main" id="{F6AB67CE-0EEB-27CC-D300-1736C84A58C6}"/>
              </a:ext>
            </a:extLst>
          </p:cNvPr>
          <p:cNvSpPr txBox="1"/>
          <p:nvPr/>
        </p:nvSpPr>
        <p:spPr>
          <a:xfrm>
            <a:off x="7850170" y="4254003"/>
            <a:ext cx="538930" cy="369332"/>
          </a:xfrm>
          <a:prstGeom prst="rect">
            <a:avLst/>
          </a:prstGeom>
          <a:noFill/>
        </p:spPr>
        <p:txBody>
          <a:bodyPr wrap="none" rtlCol="0">
            <a:spAutoFit/>
          </a:bodyPr>
          <a:lstStyle/>
          <a:p>
            <a:r>
              <a:rPr lang="en-US" dirty="0"/>
              <a:t>n&gt;1</a:t>
            </a:r>
          </a:p>
        </p:txBody>
      </p:sp>
      <p:sp>
        <p:nvSpPr>
          <p:cNvPr id="20" name="Oval 19">
            <a:extLst>
              <a:ext uri="{FF2B5EF4-FFF2-40B4-BE49-F238E27FC236}">
                <a16:creationId xmlns:a16="http://schemas.microsoft.com/office/drawing/2014/main" id="{AE846F05-D29A-FD09-BD2B-C50C1DBFB555}"/>
              </a:ext>
            </a:extLst>
          </p:cNvPr>
          <p:cNvSpPr/>
          <p:nvPr/>
        </p:nvSpPr>
        <p:spPr>
          <a:xfrm>
            <a:off x="4810575" y="2784363"/>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1" name="Oval 20">
            <a:extLst>
              <a:ext uri="{FF2B5EF4-FFF2-40B4-BE49-F238E27FC236}">
                <a16:creationId xmlns:a16="http://schemas.microsoft.com/office/drawing/2014/main" id="{F18FA4BC-3C9E-6C1B-7661-2CA70C63D03D}"/>
              </a:ext>
            </a:extLst>
          </p:cNvPr>
          <p:cNvSpPr/>
          <p:nvPr/>
        </p:nvSpPr>
        <p:spPr>
          <a:xfrm>
            <a:off x="5618295" y="3131901"/>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cxnSp>
        <p:nvCxnSpPr>
          <p:cNvPr id="23" name="Straight Arrow Connector 22">
            <a:extLst>
              <a:ext uri="{FF2B5EF4-FFF2-40B4-BE49-F238E27FC236}">
                <a16:creationId xmlns:a16="http://schemas.microsoft.com/office/drawing/2014/main" id="{60786079-B6D4-04AA-E994-42293A34DCE5}"/>
              </a:ext>
            </a:extLst>
          </p:cNvPr>
          <p:cNvCxnSpPr/>
          <p:nvPr/>
        </p:nvCxnSpPr>
        <p:spPr>
          <a:xfrm>
            <a:off x="6806153" y="3979683"/>
            <a:ext cx="0" cy="9448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9F3C58B-CC7B-7F19-AFF8-B0E429E159BC}"/>
              </a:ext>
            </a:extLst>
          </p:cNvPr>
          <p:cNvSpPr txBox="1"/>
          <p:nvPr/>
        </p:nvSpPr>
        <p:spPr>
          <a:xfrm>
            <a:off x="6796080" y="4299723"/>
            <a:ext cx="261610" cy="369332"/>
          </a:xfrm>
          <a:prstGeom prst="rect">
            <a:avLst/>
          </a:prstGeom>
          <a:noFill/>
        </p:spPr>
        <p:txBody>
          <a:bodyPr wrap="none" rtlCol="0">
            <a:spAutoFit/>
          </a:bodyPr>
          <a:lstStyle/>
          <a:p>
            <a:r>
              <a:rPr lang="en-US" dirty="0"/>
              <a:t>t</a:t>
            </a:r>
          </a:p>
        </p:txBody>
      </p:sp>
    </p:spTree>
    <p:extLst>
      <p:ext uri="{BB962C8B-B14F-4D97-AF65-F5344CB8AC3E}">
        <p14:creationId xmlns:p14="http://schemas.microsoft.com/office/powerpoint/2010/main" val="1980085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68C399-2BD9-3B23-809A-2F093B63E456}"/>
              </a:ext>
            </a:extLst>
          </p:cNvPr>
          <p:cNvPicPr>
            <a:picLocks noChangeAspect="1"/>
          </p:cNvPicPr>
          <p:nvPr/>
        </p:nvPicPr>
        <p:blipFill>
          <a:blip r:embed="rId2"/>
          <a:stretch>
            <a:fillRect/>
          </a:stretch>
        </p:blipFill>
        <p:spPr>
          <a:xfrm>
            <a:off x="1549908" y="1828969"/>
            <a:ext cx="6044184" cy="2574375"/>
          </a:xfrm>
          <a:prstGeom prst="rect">
            <a:avLst/>
          </a:prstGeom>
        </p:spPr>
      </p:pic>
    </p:spTree>
    <p:extLst>
      <p:ext uri="{BB962C8B-B14F-4D97-AF65-F5344CB8AC3E}">
        <p14:creationId xmlns:p14="http://schemas.microsoft.com/office/powerpoint/2010/main" val="1431707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23CA31-6990-CFBF-1F34-494064A3E763}"/>
              </a:ext>
            </a:extLst>
          </p:cNvPr>
          <p:cNvPicPr>
            <a:picLocks noChangeAspect="1"/>
          </p:cNvPicPr>
          <p:nvPr/>
        </p:nvPicPr>
        <p:blipFill>
          <a:blip r:embed="rId2"/>
          <a:stretch>
            <a:fillRect/>
          </a:stretch>
        </p:blipFill>
        <p:spPr>
          <a:xfrm>
            <a:off x="770867" y="2660905"/>
            <a:ext cx="8059379" cy="1387792"/>
          </a:xfrm>
          <a:prstGeom prst="rect">
            <a:avLst/>
          </a:prstGeom>
        </p:spPr>
      </p:pic>
    </p:spTree>
    <p:extLst>
      <p:ext uri="{BB962C8B-B14F-4D97-AF65-F5344CB8AC3E}">
        <p14:creationId xmlns:p14="http://schemas.microsoft.com/office/powerpoint/2010/main" val="37103945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C7BF74DD-BBED-1FA9-4CCE-8074B0C9BF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5198" y="2633472"/>
            <a:ext cx="4794963" cy="3182112"/>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340F6102-FC0E-7232-96AE-0026DE4899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7002" y="1411224"/>
            <a:ext cx="3136392" cy="2090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0471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1563" y="2122488"/>
            <a:ext cx="7000875" cy="2619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179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extLst>
      <p:ext uri="{BB962C8B-B14F-4D97-AF65-F5344CB8AC3E}">
        <p14:creationId xmlns:p14="http://schemas.microsoft.com/office/powerpoint/2010/main" val="202999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descr="ELECTROMAGNETIC SPECTR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6557" y="1351189"/>
            <a:ext cx="5143500" cy="609600"/>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Figure 4. Terrestrial microwave window. Atmospheric water vapor and oxygen degrade the upper end of the microwave window for receivers on Earth's surface and raise the temperature in the lower portion of the window."/>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975" y="539977"/>
            <a:ext cx="7115175" cy="526732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2470718" y="5987534"/>
            <a:ext cx="4202561" cy="369332"/>
          </a:xfrm>
          <a:prstGeom prst="rect">
            <a:avLst/>
          </a:prstGeom>
        </p:spPr>
        <p:txBody>
          <a:bodyPr wrap="none">
            <a:spAutoFit/>
          </a:bodyPr>
          <a:lstStyle/>
          <a:p>
            <a:r>
              <a:rPr lang="en-US" dirty="0"/>
              <a:t>http://history.nasa.gov/CP-2156/p359.htm</a:t>
            </a:r>
          </a:p>
        </p:txBody>
      </p:sp>
    </p:spTree>
    <p:extLst>
      <p:ext uri="{BB962C8B-B14F-4D97-AF65-F5344CB8AC3E}">
        <p14:creationId xmlns:p14="http://schemas.microsoft.com/office/powerpoint/2010/main" val="19118738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FB02E0A8-1D01-4152-C9C3-32A4D697ED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5648" y="1506432"/>
            <a:ext cx="5220081" cy="35749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40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69720" y="1737360"/>
            <a:ext cx="6522720"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1539240" y="1798320"/>
            <a:ext cx="6583680"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p:cNvPicPr>
            <a:picLocks noChangeAspect="1" noChangeArrowheads="1"/>
          </p:cNvPicPr>
          <p:nvPr/>
        </p:nvPicPr>
        <p:blipFill>
          <a:blip r:embed="rId3" cstate="print"/>
          <a:srcRect/>
          <a:stretch>
            <a:fillRect/>
          </a:stretch>
        </p:blipFill>
        <p:spPr bwMode="auto">
          <a:xfrm>
            <a:off x="2846070" y="3767138"/>
            <a:ext cx="3238500" cy="2676525"/>
          </a:xfrm>
          <a:prstGeom prst="rect">
            <a:avLst/>
          </a:prstGeom>
          <a:noFill/>
          <a:ln w="9525">
            <a:noFill/>
            <a:miter lim="800000"/>
            <a:headEnd/>
            <a:tailEnd/>
          </a:ln>
        </p:spPr>
      </p:pic>
      <p:sp>
        <p:nvSpPr>
          <p:cNvPr id="5" name="Rectangle 4"/>
          <p:cNvSpPr/>
          <p:nvPr/>
        </p:nvSpPr>
        <p:spPr>
          <a:xfrm>
            <a:off x="4221480" y="3886200"/>
            <a:ext cx="213360" cy="137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a:stCxn id="5" idx="1"/>
          </p:cNvCxnSpPr>
          <p:nvPr/>
        </p:nvCxnSpPr>
        <p:spPr>
          <a:xfrm flipH="1" flipV="1">
            <a:off x="1463040" y="3230880"/>
            <a:ext cx="2758440" cy="7239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stCxn id="5" idx="3"/>
          </p:cNvCxnSpPr>
          <p:nvPr/>
        </p:nvCxnSpPr>
        <p:spPr>
          <a:xfrm flipV="1">
            <a:off x="4434840" y="3246120"/>
            <a:ext cx="3703320" cy="7086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804160" y="60960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3733800" y="1737360"/>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flipH="1">
            <a:off x="3749040" y="62484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H="1">
            <a:off x="4145280" y="62484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H="1">
            <a:off x="3947160" y="1752600"/>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Isosceles Triangle 25"/>
          <p:cNvSpPr/>
          <p:nvPr/>
        </p:nvSpPr>
        <p:spPr>
          <a:xfrm rot="8363335">
            <a:off x="3098960" y="97250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Isosceles Triangle 27"/>
          <p:cNvSpPr/>
          <p:nvPr/>
        </p:nvSpPr>
        <p:spPr>
          <a:xfrm rot="2276016">
            <a:off x="4237195" y="893921"/>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Isosceles Triangle 28"/>
          <p:cNvSpPr/>
          <p:nvPr/>
        </p:nvSpPr>
        <p:spPr>
          <a:xfrm rot="2276016">
            <a:off x="4477702" y="1086801"/>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31"/>
          <p:cNvSpPr/>
          <p:nvPr/>
        </p:nvSpPr>
        <p:spPr>
          <a:xfrm>
            <a:off x="7772400" y="1600200"/>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33"/>
          <p:cNvSpPr/>
          <p:nvPr/>
        </p:nvSpPr>
        <p:spPr>
          <a:xfrm flipH="1">
            <a:off x="1371600" y="1493520"/>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1463040" y="411480"/>
            <a:ext cx="6690360" cy="28346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p:cNvSpPr txBox="1"/>
          <p:nvPr/>
        </p:nvSpPr>
        <p:spPr>
          <a:xfrm>
            <a:off x="3383280" y="411480"/>
            <a:ext cx="1221809" cy="369332"/>
          </a:xfrm>
          <a:prstGeom prst="rect">
            <a:avLst/>
          </a:prstGeom>
          <a:noFill/>
        </p:spPr>
        <p:txBody>
          <a:bodyPr wrap="none" rtlCol="0">
            <a:spAutoFit/>
          </a:bodyPr>
          <a:lstStyle/>
          <a:p>
            <a:r>
              <a:rPr lang="en-US" dirty="0"/>
              <a:t>Phase Shift</a:t>
            </a:r>
          </a:p>
        </p:txBody>
      </p:sp>
      <p:sp>
        <p:nvSpPr>
          <p:cNvPr id="46" name="TextBox 45"/>
          <p:cNvSpPr txBox="1"/>
          <p:nvPr/>
        </p:nvSpPr>
        <p:spPr>
          <a:xfrm>
            <a:off x="4937760" y="853440"/>
            <a:ext cx="1545616" cy="369332"/>
          </a:xfrm>
          <a:prstGeom prst="rect">
            <a:avLst/>
          </a:prstGeom>
          <a:noFill/>
        </p:spPr>
        <p:txBody>
          <a:bodyPr wrap="none" rtlCol="0">
            <a:spAutoFit/>
          </a:bodyPr>
          <a:lstStyle/>
          <a:p>
            <a:r>
              <a:rPr lang="en-US" dirty="0"/>
              <a:t>No Phase Shift</a:t>
            </a:r>
          </a:p>
        </p:txBody>
      </p:sp>
      <p:sp>
        <p:nvSpPr>
          <p:cNvPr id="47" name="TextBox 46"/>
          <p:cNvSpPr txBox="1"/>
          <p:nvPr/>
        </p:nvSpPr>
        <p:spPr>
          <a:xfrm>
            <a:off x="7086600" y="1127760"/>
            <a:ext cx="538930" cy="369332"/>
          </a:xfrm>
          <a:prstGeom prst="rect">
            <a:avLst/>
          </a:prstGeom>
          <a:noFill/>
        </p:spPr>
        <p:txBody>
          <a:bodyPr wrap="none" rtlCol="0">
            <a:spAutoFit/>
          </a:bodyPr>
          <a:lstStyle/>
          <a:p>
            <a:r>
              <a:rPr lang="en-US" dirty="0"/>
              <a:t>n=1</a:t>
            </a:r>
          </a:p>
        </p:txBody>
      </p:sp>
      <p:sp>
        <p:nvSpPr>
          <p:cNvPr id="48" name="TextBox 47"/>
          <p:cNvSpPr txBox="1"/>
          <p:nvPr/>
        </p:nvSpPr>
        <p:spPr>
          <a:xfrm>
            <a:off x="7086600" y="2819400"/>
            <a:ext cx="538930" cy="369332"/>
          </a:xfrm>
          <a:prstGeom prst="rect">
            <a:avLst/>
          </a:prstGeom>
          <a:noFill/>
        </p:spPr>
        <p:txBody>
          <a:bodyPr wrap="none" rtlCol="0">
            <a:spAutoFit/>
          </a:bodyPr>
          <a:lstStyle/>
          <a:p>
            <a:r>
              <a:rPr lang="en-US" dirty="0"/>
              <a:t>n=1</a:t>
            </a:r>
          </a:p>
        </p:txBody>
      </p:sp>
      <p:sp>
        <p:nvSpPr>
          <p:cNvPr id="49" name="TextBox 48"/>
          <p:cNvSpPr txBox="1"/>
          <p:nvPr/>
        </p:nvSpPr>
        <p:spPr>
          <a:xfrm>
            <a:off x="7086600" y="2072640"/>
            <a:ext cx="538930" cy="369332"/>
          </a:xfrm>
          <a:prstGeom prst="rect">
            <a:avLst/>
          </a:prstGeom>
          <a:noFill/>
        </p:spPr>
        <p:txBody>
          <a:bodyPr wrap="none" rtlCol="0">
            <a:spAutoFit/>
          </a:bodyPr>
          <a:lstStyle/>
          <a:p>
            <a:r>
              <a:rPr lang="en-US" dirty="0"/>
              <a:t>n&gt;1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223.8.2.5</a:t>
            </a:r>
          </a:p>
        </p:txBody>
      </p:sp>
      <p:sp>
        <p:nvSpPr>
          <p:cNvPr id="191492" name="Rectangle 3"/>
          <p:cNvSpPr>
            <a:spLocks noGrp="1" noChangeArrowheads="1"/>
          </p:cNvSpPr>
          <p:nvPr>
            <p:ph idx="1"/>
          </p:nvPr>
        </p:nvSpPr>
        <p:spPr>
          <a:xfrm>
            <a:off x="457200" y="1600200"/>
            <a:ext cx="4049713" cy="4525963"/>
          </a:xfrm>
        </p:spPr>
        <p:txBody>
          <a:bodyPr>
            <a:normAutofit lnSpcReduction="10000"/>
          </a:bodyPr>
          <a:lstStyle/>
          <a:p>
            <a:pPr marL="609600" indent="-609600" eaLnBrk="1" hangingPunct="1">
              <a:buFontTx/>
              <a:buNone/>
            </a:pPr>
            <a:r>
              <a:rPr lang="en-US" dirty="0"/>
              <a:t>The thickness of the film is 2 wavelengths. Will rays 3 and 4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12</a:t>
            </a:fld>
            <a:endParaRPr lang="en-US"/>
          </a:p>
        </p:txBody>
      </p:sp>
      <p:sp>
        <p:nvSpPr>
          <p:cNvPr id="2" name="Rectangle 1">
            <a:extLst>
              <a:ext uri="{FF2B5EF4-FFF2-40B4-BE49-F238E27FC236}">
                <a16:creationId xmlns:a16="http://schemas.microsoft.com/office/drawing/2014/main" id="{CB3AC135-7401-5F46-9DAC-CB7D69E2E6F0}"/>
              </a:ext>
            </a:extLst>
          </p:cNvPr>
          <p:cNvSpPr/>
          <p:nvPr/>
        </p:nvSpPr>
        <p:spPr>
          <a:xfrm>
            <a:off x="4646669" y="2961431"/>
            <a:ext cx="3959999"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85A1AB26-7418-2CD4-871B-FB0061A24B1D}"/>
              </a:ext>
            </a:extLst>
          </p:cNvPr>
          <p:cNvSpPr/>
          <p:nvPr/>
        </p:nvSpPr>
        <p:spPr>
          <a:xfrm>
            <a:off x="4616189" y="3024216"/>
            <a:ext cx="3990479"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5E2695C7-FBC5-92FC-CD0D-E3D751894B3F}"/>
              </a:ext>
            </a:extLst>
          </p:cNvPr>
          <p:cNvCxnSpPr/>
          <p:nvPr/>
        </p:nvCxnSpPr>
        <p:spPr>
          <a:xfrm>
            <a:off x="5881109" y="183367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D9A088A-492F-2C3D-8501-7CC976C245CD}"/>
              </a:ext>
            </a:extLst>
          </p:cNvPr>
          <p:cNvCxnSpPr/>
          <p:nvPr/>
        </p:nvCxnSpPr>
        <p:spPr>
          <a:xfrm>
            <a:off x="6810749" y="296143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47BFE9-623A-3C23-C895-F0583D26F64B}"/>
              </a:ext>
            </a:extLst>
          </p:cNvPr>
          <p:cNvCxnSpPr/>
          <p:nvPr/>
        </p:nvCxnSpPr>
        <p:spPr>
          <a:xfrm flipH="1">
            <a:off x="6825989" y="184891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7A050B0-D480-8D26-637F-B36C3B7F89C2}"/>
              </a:ext>
            </a:extLst>
          </p:cNvPr>
          <p:cNvCxnSpPr/>
          <p:nvPr/>
        </p:nvCxnSpPr>
        <p:spPr>
          <a:xfrm flipH="1">
            <a:off x="7222229" y="184891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C7D67D0-B539-23F5-926A-F2D6781079FC}"/>
              </a:ext>
            </a:extLst>
          </p:cNvPr>
          <p:cNvCxnSpPr/>
          <p:nvPr/>
        </p:nvCxnSpPr>
        <p:spPr>
          <a:xfrm flipH="1">
            <a:off x="7024109" y="297667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Isosceles Triangle 8">
            <a:extLst>
              <a:ext uri="{FF2B5EF4-FFF2-40B4-BE49-F238E27FC236}">
                <a16:creationId xmlns:a16="http://schemas.microsoft.com/office/drawing/2014/main" id="{944EEB27-384F-C2CF-A93A-13981C5D5402}"/>
              </a:ext>
            </a:extLst>
          </p:cNvPr>
          <p:cNvSpPr/>
          <p:nvPr/>
        </p:nvSpPr>
        <p:spPr>
          <a:xfrm rot="8363335">
            <a:off x="6175909" y="2196573"/>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3D71ED11-C10E-1AFA-F9E2-CA4EDDAA1ED1}"/>
              </a:ext>
            </a:extLst>
          </p:cNvPr>
          <p:cNvSpPr/>
          <p:nvPr/>
        </p:nvSpPr>
        <p:spPr>
          <a:xfrm rot="2276016">
            <a:off x="7314144" y="211799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Isosceles Triangle 10">
            <a:extLst>
              <a:ext uri="{FF2B5EF4-FFF2-40B4-BE49-F238E27FC236}">
                <a16:creationId xmlns:a16="http://schemas.microsoft.com/office/drawing/2014/main" id="{1ECCC80A-8B04-55BD-FCCB-D6FCEF629B7D}"/>
              </a:ext>
            </a:extLst>
          </p:cNvPr>
          <p:cNvSpPr/>
          <p:nvPr/>
        </p:nvSpPr>
        <p:spPr>
          <a:xfrm rot="2276016">
            <a:off x="7554651" y="231087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33">
            <a:extLst>
              <a:ext uri="{FF2B5EF4-FFF2-40B4-BE49-F238E27FC236}">
                <a16:creationId xmlns:a16="http://schemas.microsoft.com/office/drawing/2014/main" id="{74998026-2C9B-8C4C-07E8-AF31776C1C48}"/>
              </a:ext>
            </a:extLst>
          </p:cNvPr>
          <p:cNvSpPr/>
          <p:nvPr/>
        </p:nvSpPr>
        <p:spPr>
          <a:xfrm flipH="1">
            <a:off x="4448549" y="2717591"/>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C38B093-0D6E-617F-EAEB-CBABB9A5C546}"/>
              </a:ext>
            </a:extLst>
          </p:cNvPr>
          <p:cNvSpPr txBox="1"/>
          <p:nvPr/>
        </p:nvSpPr>
        <p:spPr>
          <a:xfrm>
            <a:off x="8674884" y="2437350"/>
            <a:ext cx="538930"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E2D2B90B-812B-47E2-2108-07E193E6F967}"/>
              </a:ext>
            </a:extLst>
          </p:cNvPr>
          <p:cNvSpPr txBox="1"/>
          <p:nvPr/>
        </p:nvSpPr>
        <p:spPr>
          <a:xfrm>
            <a:off x="8674884" y="4128990"/>
            <a:ext cx="538930" cy="369332"/>
          </a:xfrm>
          <a:prstGeom prst="rect">
            <a:avLst/>
          </a:prstGeom>
          <a:noFill/>
        </p:spPr>
        <p:txBody>
          <a:bodyPr wrap="none" rtlCol="0">
            <a:spAutoFit/>
          </a:bodyPr>
          <a:lstStyle/>
          <a:p>
            <a:r>
              <a:rPr lang="en-US" dirty="0"/>
              <a:t>n=1</a:t>
            </a:r>
          </a:p>
        </p:txBody>
      </p:sp>
      <p:sp>
        <p:nvSpPr>
          <p:cNvPr id="17" name="TextBox 16">
            <a:extLst>
              <a:ext uri="{FF2B5EF4-FFF2-40B4-BE49-F238E27FC236}">
                <a16:creationId xmlns:a16="http://schemas.microsoft.com/office/drawing/2014/main" id="{ED3B293C-8EE6-740C-E8A5-C57482C59ABF}"/>
              </a:ext>
            </a:extLst>
          </p:cNvPr>
          <p:cNvSpPr txBox="1"/>
          <p:nvPr/>
        </p:nvSpPr>
        <p:spPr>
          <a:xfrm>
            <a:off x="8674884" y="3382230"/>
            <a:ext cx="538930" cy="369332"/>
          </a:xfrm>
          <a:prstGeom prst="rect">
            <a:avLst/>
          </a:prstGeom>
          <a:noFill/>
        </p:spPr>
        <p:txBody>
          <a:bodyPr wrap="none" rtlCol="0">
            <a:spAutoFit/>
          </a:bodyPr>
          <a:lstStyle/>
          <a:p>
            <a:r>
              <a:rPr lang="en-US" dirty="0"/>
              <a:t>n&gt;1</a:t>
            </a:r>
          </a:p>
        </p:txBody>
      </p:sp>
      <p:cxnSp>
        <p:nvCxnSpPr>
          <p:cNvPr id="18" name="Straight Connector 17">
            <a:extLst>
              <a:ext uri="{FF2B5EF4-FFF2-40B4-BE49-F238E27FC236}">
                <a16:creationId xmlns:a16="http://schemas.microsoft.com/office/drawing/2014/main" id="{85FFACE0-3235-2473-93E8-B19E4D46DCC3}"/>
              </a:ext>
            </a:extLst>
          </p:cNvPr>
          <p:cNvCxnSpPr/>
          <p:nvPr/>
        </p:nvCxnSpPr>
        <p:spPr>
          <a:xfrm>
            <a:off x="6993629" y="3993046"/>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8413F87-D610-C4CC-592E-79BD15F54433}"/>
              </a:ext>
            </a:extLst>
          </p:cNvPr>
          <p:cNvCxnSpPr/>
          <p:nvPr/>
        </p:nvCxnSpPr>
        <p:spPr>
          <a:xfrm>
            <a:off x="7227379" y="299133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C7AE8FBA-4C8F-B1BF-1C24-4EBB9637FE4C}"/>
              </a:ext>
            </a:extLst>
          </p:cNvPr>
          <p:cNvCxnSpPr/>
          <p:nvPr/>
        </p:nvCxnSpPr>
        <p:spPr>
          <a:xfrm>
            <a:off x="7417260" y="3993046"/>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6362609-6D5C-54C8-42A2-3D06C6A13DB1}"/>
              </a:ext>
            </a:extLst>
          </p:cNvPr>
          <p:cNvSpPr/>
          <p:nvPr/>
        </p:nvSpPr>
        <p:spPr>
          <a:xfrm>
            <a:off x="7057260" y="1832996"/>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2" name="Oval 21">
            <a:extLst>
              <a:ext uri="{FF2B5EF4-FFF2-40B4-BE49-F238E27FC236}">
                <a16:creationId xmlns:a16="http://schemas.microsoft.com/office/drawing/2014/main" id="{7A9321C8-D105-C4CA-B7DC-06E9F585B76F}"/>
              </a:ext>
            </a:extLst>
          </p:cNvPr>
          <p:cNvSpPr/>
          <p:nvPr/>
        </p:nvSpPr>
        <p:spPr>
          <a:xfrm>
            <a:off x="7864980" y="2180534"/>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3" name="Oval 22">
            <a:extLst>
              <a:ext uri="{FF2B5EF4-FFF2-40B4-BE49-F238E27FC236}">
                <a16:creationId xmlns:a16="http://schemas.microsoft.com/office/drawing/2014/main" id="{7137FB4B-11B1-407B-C148-B85A553098CC}"/>
              </a:ext>
            </a:extLst>
          </p:cNvPr>
          <p:cNvSpPr/>
          <p:nvPr/>
        </p:nvSpPr>
        <p:spPr>
          <a:xfrm>
            <a:off x="7204862" y="4709360"/>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4" name="Oval 23">
            <a:extLst>
              <a:ext uri="{FF2B5EF4-FFF2-40B4-BE49-F238E27FC236}">
                <a16:creationId xmlns:a16="http://schemas.microsoft.com/office/drawing/2014/main" id="{D2C76460-226B-4182-1FBC-A551650E80C8}"/>
              </a:ext>
            </a:extLst>
          </p:cNvPr>
          <p:cNvSpPr/>
          <p:nvPr/>
        </p:nvSpPr>
        <p:spPr>
          <a:xfrm>
            <a:off x="8194918" y="4631075"/>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5" name="Isosceles Triangle 24">
            <a:extLst>
              <a:ext uri="{FF2B5EF4-FFF2-40B4-BE49-F238E27FC236}">
                <a16:creationId xmlns:a16="http://schemas.microsoft.com/office/drawing/2014/main" id="{0E793E38-489D-D6CC-2390-C148225DE2A4}"/>
              </a:ext>
            </a:extLst>
          </p:cNvPr>
          <p:cNvSpPr/>
          <p:nvPr/>
        </p:nvSpPr>
        <p:spPr>
          <a:xfrm rot="8363335">
            <a:off x="7677567" y="4309158"/>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Isosceles Triangle 25">
            <a:extLst>
              <a:ext uri="{FF2B5EF4-FFF2-40B4-BE49-F238E27FC236}">
                <a16:creationId xmlns:a16="http://schemas.microsoft.com/office/drawing/2014/main" id="{3E8ACC13-7F0E-CD18-2C16-9D0EA1710BF9}"/>
              </a:ext>
            </a:extLst>
          </p:cNvPr>
          <p:cNvSpPr/>
          <p:nvPr/>
        </p:nvSpPr>
        <p:spPr>
          <a:xfrm rot="8363335">
            <a:off x="7655507" y="4816415"/>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Isosceles Triangle 26">
            <a:extLst>
              <a:ext uri="{FF2B5EF4-FFF2-40B4-BE49-F238E27FC236}">
                <a16:creationId xmlns:a16="http://schemas.microsoft.com/office/drawing/2014/main" id="{D8F2208E-734D-CB10-E226-68903C97AB85}"/>
              </a:ext>
            </a:extLst>
          </p:cNvPr>
          <p:cNvSpPr/>
          <p:nvPr/>
        </p:nvSpPr>
        <p:spPr>
          <a:xfrm rot="10125416">
            <a:off x="6782660" y="326828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Isosceles Triangle 27">
            <a:extLst>
              <a:ext uri="{FF2B5EF4-FFF2-40B4-BE49-F238E27FC236}">
                <a16:creationId xmlns:a16="http://schemas.microsoft.com/office/drawing/2014/main" id="{D38899BE-EC96-9153-A9C0-F00948F3E4B7}"/>
              </a:ext>
            </a:extLst>
          </p:cNvPr>
          <p:cNvSpPr/>
          <p:nvPr/>
        </p:nvSpPr>
        <p:spPr>
          <a:xfrm rot="10125416">
            <a:off x="7230396" y="3470516"/>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46C3A66F-A73A-2CCF-DD4C-DB217965B166}"/>
              </a:ext>
            </a:extLst>
          </p:cNvPr>
          <p:cNvCxnSpPr/>
          <p:nvPr/>
        </p:nvCxnSpPr>
        <p:spPr>
          <a:xfrm>
            <a:off x="5867827" y="3024216"/>
            <a:ext cx="0" cy="9448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A6269B5-E691-DB3D-6CEB-6CA3BD6934ED}"/>
              </a:ext>
            </a:extLst>
          </p:cNvPr>
          <p:cNvSpPr txBox="1"/>
          <p:nvPr/>
        </p:nvSpPr>
        <p:spPr>
          <a:xfrm>
            <a:off x="5857754" y="3344256"/>
            <a:ext cx="261610" cy="369332"/>
          </a:xfrm>
          <a:prstGeom prst="rect">
            <a:avLst/>
          </a:prstGeom>
          <a:noFill/>
        </p:spPr>
        <p:txBody>
          <a:bodyPr wrap="none" rtlCol="0">
            <a:spAutoFit/>
          </a:bodyPr>
          <a:lstStyle/>
          <a:p>
            <a:r>
              <a:rPr lang="en-US" dirty="0"/>
              <a:t>t</a:t>
            </a:r>
          </a:p>
        </p:txBody>
      </p:sp>
    </p:spTree>
    <p:extLst>
      <p:ext uri="{BB962C8B-B14F-4D97-AF65-F5344CB8AC3E}">
        <p14:creationId xmlns:p14="http://schemas.microsoft.com/office/powerpoint/2010/main" val="2093483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449944"/>
            <a:ext cx="8229600" cy="5676220"/>
          </a:xfrm>
        </p:spPr>
        <p:txBody>
          <a:bodyPr/>
          <a:lstStyle/>
          <a:p>
            <a:pPr marL="0" indent="0">
              <a:buNone/>
            </a:pPr>
            <a:r>
              <a:rPr lang="en-US" dirty="0"/>
              <a:t>A thin film of oil (n=1.25) is located on a smooth wet pavement. When viewed perpendicular to the pavement, the film reflects most strongly red light at 640nm  and reflects no blue light at 512nm . </a:t>
            </a:r>
            <a:r>
              <a:rPr lang="en-US"/>
              <a:t>How thick is the oil film?</a:t>
            </a:r>
            <a:endParaRPr lang="en-US" dirty="0"/>
          </a:p>
        </p:txBody>
      </p:sp>
    </p:spTree>
    <p:extLst>
      <p:ext uri="{BB962C8B-B14F-4D97-AF65-F5344CB8AC3E}">
        <p14:creationId xmlns:p14="http://schemas.microsoft.com/office/powerpoint/2010/main" val="31207438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3425192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19901057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C05155-3787-EDED-51B9-889AC582D8B9}"/>
              </a:ext>
            </a:extLst>
          </p:cNvPr>
          <p:cNvPicPr>
            <a:picLocks noChangeAspect="1"/>
          </p:cNvPicPr>
          <p:nvPr/>
        </p:nvPicPr>
        <p:blipFill>
          <a:blip r:embed="rId2"/>
          <a:stretch>
            <a:fillRect/>
          </a:stretch>
        </p:blipFill>
        <p:spPr>
          <a:xfrm>
            <a:off x="2267712" y="1406292"/>
            <a:ext cx="4752594" cy="4648370"/>
          </a:xfrm>
          <a:prstGeom prst="rect">
            <a:avLst/>
          </a:prstGeom>
        </p:spPr>
      </p:pic>
    </p:spTree>
    <p:extLst>
      <p:ext uri="{BB962C8B-B14F-4D97-AF65-F5344CB8AC3E}">
        <p14:creationId xmlns:p14="http://schemas.microsoft.com/office/powerpoint/2010/main" val="30873377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descr="G:\DCIM\100CASIO\CIMG0507.JPG"/>
          <p:cNvPicPr>
            <a:picLocks noChangeAspect="1" noChangeArrowheads="1"/>
          </p:cNvPicPr>
          <p:nvPr/>
        </p:nvPicPr>
        <p:blipFill>
          <a:blip r:embed="rId2" cstate="print">
            <a:lum bright="-40000" contrast="40000"/>
          </a:blip>
          <a:srcRect l="20270" t="16216" r="29054" b="18919"/>
          <a:stretch>
            <a:fillRect/>
          </a:stretch>
        </p:blipFill>
        <p:spPr bwMode="auto">
          <a:xfrm>
            <a:off x="1686348" y="969935"/>
            <a:ext cx="1905000" cy="1828800"/>
          </a:xfrm>
          <a:prstGeom prst="rect">
            <a:avLst/>
          </a:prstGeom>
          <a:noFill/>
        </p:spPr>
      </p:pic>
      <p:pic>
        <p:nvPicPr>
          <p:cNvPr id="6150" name="Picture 6" descr="G:\DCIM\100CASIO\CIMG0506.JPG"/>
          <p:cNvPicPr>
            <a:picLocks noChangeAspect="1" noChangeArrowheads="1"/>
          </p:cNvPicPr>
          <p:nvPr/>
        </p:nvPicPr>
        <p:blipFill>
          <a:blip r:embed="rId3" cstate="print">
            <a:lum bright="-40000" contrast="40000"/>
          </a:blip>
          <a:srcRect l="15789" r="21053" b="15789"/>
          <a:stretch>
            <a:fillRect/>
          </a:stretch>
        </p:blipFill>
        <p:spPr bwMode="auto">
          <a:xfrm>
            <a:off x="3515148" y="969935"/>
            <a:ext cx="1828800" cy="1828800"/>
          </a:xfrm>
          <a:prstGeom prst="rect">
            <a:avLst/>
          </a:prstGeom>
          <a:noFill/>
        </p:spPr>
      </p:pic>
      <p:pic>
        <p:nvPicPr>
          <p:cNvPr id="6151" name="Picture 7" descr="G:\DCIM\100CASIO\CIMG0511.JPG"/>
          <p:cNvPicPr>
            <a:picLocks noChangeAspect="1" noChangeArrowheads="1"/>
          </p:cNvPicPr>
          <p:nvPr/>
        </p:nvPicPr>
        <p:blipFill>
          <a:blip r:embed="rId4" cstate="print">
            <a:lum bright="-40000" contrast="20000"/>
          </a:blip>
          <a:srcRect l="25000" t="8709" r="20000" b="21613"/>
          <a:stretch>
            <a:fillRect/>
          </a:stretch>
        </p:blipFill>
        <p:spPr bwMode="auto">
          <a:xfrm>
            <a:off x="5343948" y="969935"/>
            <a:ext cx="1924756" cy="1828800"/>
          </a:xfrm>
          <a:prstGeom prst="rect">
            <a:avLst/>
          </a:prstGeom>
          <a:noFill/>
        </p:spPr>
      </p:pic>
      <p:grpSp>
        <p:nvGrpSpPr>
          <p:cNvPr id="18" name="Group 17"/>
          <p:cNvGrpSpPr/>
          <p:nvPr/>
        </p:nvGrpSpPr>
        <p:grpSpPr>
          <a:xfrm>
            <a:off x="2941234" y="4339568"/>
            <a:ext cx="2641600" cy="1981200"/>
            <a:chOff x="2266244" y="914400"/>
            <a:chExt cx="2641600" cy="1981200"/>
          </a:xfrm>
        </p:grpSpPr>
        <p:pic>
          <p:nvPicPr>
            <p:cNvPr id="6152" name="Picture 8" descr="G:\DCIM\100CASIO\CIMG0510.JPG"/>
            <p:cNvPicPr>
              <a:picLocks noChangeAspect="1" noChangeArrowheads="1"/>
            </p:cNvPicPr>
            <p:nvPr/>
          </p:nvPicPr>
          <p:blipFill>
            <a:blip r:embed="rId5" cstate="print"/>
            <a:srcRect/>
            <a:stretch>
              <a:fillRect/>
            </a:stretch>
          </p:blipFill>
          <p:spPr bwMode="auto">
            <a:xfrm>
              <a:off x="2266244" y="914400"/>
              <a:ext cx="2641600" cy="1981200"/>
            </a:xfrm>
            <a:prstGeom prst="rect">
              <a:avLst/>
            </a:prstGeom>
            <a:noFill/>
          </p:spPr>
        </p:pic>
        <p:pic>
          <p:nvPicPr>
            <p:cNvPr id="16" name="Picture 8" descr="G:\DCIM\100CASIO\CIMG0510.JPG"/>
            <p:cNvPicPr>
              <a:picLocks noChangeAspect="1" noChangeArrowheads="1"/>
            </p:cNvPicPr>
            <p:nvPr/>
          </p:nvPicPr>
          <p:blipFill>
            <a:blip r:embed="rId5" cstate="print"/>
            <a:srcRect l="39510" t="23438" r="53099" b="69231"/>
            <a:stretch>
              <a:fillRect/>
            </a:stretch>
          </p:blipFill>
          <p:spPr bwMode="auto">
            <a:xfrm>
              <a:off x="3267075" y="1250157"/>
              <a:ext cx="195263" cy="145257"/>
            </a:xfrm>
            <a:prstGeom prst="rect">
              <a:avLst/>
            </a:prstGeom>
            <a:noFill/>
          </p:spPr>
        </p:pic>
        <p:pic>
          <p:nvPicPr>
            <p:cNvPr id="17" name="Picture 8" descr="G:\DCIM\100CASIO\CIMG0510.JPG"/>
            <p:cNvPicPr>
              <a:picLocks noChangeAspect="1" noChangeArrowheads="1"/>
            </p:cNvPicPr>
            <p:nvPr/>
          </p:nvPicPr>
          <p:blipFill>
            <a:blip r:embed="rId5" cstate="print">
              <a:lum bright="10000"/>
            </a:blip>
            <a:srcRect l="38248" t="23438" r="56434" b="69231"/>
            <a:stretch>
              <a:fillRect/>
            </a:stretch>
          </p:blipFill>
          <p:spPr bwMode="auto">
            <a:xfrm>
              <a:off x="3445670" y="1259681"/>
              <a:ext cx="140493" cy="145257"/>
            </a:xfrm>
            <a:prstGeom prst="rect">
              <a:avLst/>
            </a:prstGeom>
            <a:noFill/>
          </p:spPr>
        </p:pic>
      </p:grpSp>
      <p:sp>
        <p:nvSpPr>
          <p:cNvPr id="19" name="TextBox 18"/>
          <p:cNvSpPr txBox="1"/>
          <p:nvPr/>
        </p:nvSpPr>
        <p:spPr>
          <a:xfrm>
            <a:off x="1961350" y="4897508"/>
            <a:ext cx="976393" cy="369332"/>
          </a:xfrm>
          <a:prstGeom prst="rect">
            <a:avLst/>
          </a:prstGeom>
          <a:noFill/>
        </p:spPr>
        <p:txBody>
          <a:bodyPr wrap="square" rtlCol="0">
            <a:spAutoFit/>
          </a:bodyPr>
          <a:lstStyle/>
          <a:p>
            <a:r>
              <a:rPr lang="en-US" dirty="0"/>
              <a:t>Laser</a:t>
            </a:r>
          </a:p>
        </p:txBody>
      </p:sp>
      <p:sp>
        <p:nvSpPr>
          <p:cNvPr id="20" name="TextBox 19"/>
          <p:cNvSpPr txBox="1"/>
          <p:nvPr/>
        </p:nvSpPr>
        <p:spPr>
          <a:xfrm>
            <a:off x="5910835" y="5034410"/>
            <a:ext cx="1583410" cy="646331"/>
          </a:xfrm>
          <a:prstGeom prst="rect">
            <a:avLst/>
          </a:prstGeom>
          <a:noFill/>
        </p:spPr>
        <p:txBody>
          <a:bodyPr wrap="square" rtlCol="0">
            <a:spAutoFit/>
          </a:bodyPr>
          <a:lstStyle/>
          <a:p>
            <a:r>
              <a:rPr lang="en-US" dirty="0"/>
              <a:t>Movable Mirror</a:t>
            </a:r>
          </a:p>
        </p:txBody>
      </p:sp>
      <p:sp>
        <p:nvSpPr>
          <p:cNvPr id="21" name="TextBox 20"/>
          <p:cNvSpPr txBox="1"/>
          <p:nvPr/>
        </p:nvSpPr>
        <p:spPr>
          <a:xfrm>
            <a:off x="4311927" y="6488668"/>
            <a:ext cx="1583410" cy="369332"/>
          </a:xfrm>
          <a:prstGeom prst="rect">
            <a:avLst/>
          </a:prstGeom>
          <a:noFill/>
        </p:spPr>
        <p:txBody>
          <a:bodyPr wrap="square" rtlCol="0">
            <a:spAutoFit/>
          </a:bodyPr>
          <a:lstStyle/>
          <a:p>
            <a:r>
              <a:rPr lang="en-US" dirty="0"/>
              <a:t>Fixed Mirror</a:t>
            </a:r>
          </a:p>
        </p:txBody>
      </p:sp>
      <p:sp>
        <p:nvSpPr>
          <p:cNvPr id="22" name="TextBox 21"/>
          <p:cNvSpPr txBox="1"/>
          <p:nvPr/>
        </p:nvSpPr>
        <p:spPr>
          <a:xfrm>
            <a:off x="1101195" y="6052133"/>
            <a:ext cx="1583410" cy="369332"/>
          </a:xfrm>
          <a:prstGeom prst="rect">
            <a:avLst/>
          </a:prstGeom>
          <a:noFill/>
        </p:spPr>
        <p:txBody>
          <a:bodyPr wrap="square" rtlCol="0">
            <a:spAutoFit/>
          </a:bodyPr>
          <a:lstStyle/>
          <a:p>
            <a:r>
              <a:rPr lang="en-US" dirty="0"/>
              <a:t>Beam Splitter</a:t>
            </a:r>
          </a:p>
        </p:txBody>
      </p:sp>
      <p:sp>
        <p:nvSpPr>
          <p:cNvPr id="23" name="TextBox 22"/>
          <p:cNvSpPr txBox="1"/>
          <p:nvPr/>
        </p:nvSpPr>
        <p:spPr>
          <a:xfrm>
            <a:off x="1694482" y="2903351"/>
            <a:ext cx="1583410" cy="369332"/>
          </a:xfrm>
          <a:prstGeom prst="rect">
            <a:avLst/>
          </a:prstGeom>
          <a:noFill/>
        </p:spPr>
        <p:txBody>
          <a:bodyPr wrap="square" rtlCol="0">
            <a:spAutoFit/>
          </a:bodyPr>
          <a:lstStyle/>
          <a:p>
            <a:r>
              <a:rPr lang="en-US" dirty="0"/>
              <a:t>Bright Center</a:t>
            </a:r>
          </a:p>
        </p:txBody>
      </p:sp>
      <p:sp>
        <p:nvSpPr>
          <p:cNvPr id="24" name="TextBox 23"/>
          <p:cNvSpPr txBox="1"/>
          <p:nvPr/>
        </p:nvSpPr>
        <p:spPr>
          <a:xfrm>
            <a:off x="3784170" y="2900768"/>
            <a:ext cx="1583410" cy="369332"/>
          </a:xfrm>
          <a:prstGeom prst="rect">
            <a:avLst/>
          </a:prstGeom>
          <a:noFill/>
        </p:spPr>
        <p:txBody>
          <a:bodyPr wrap="square" rtlCol="0">
            <a:spAutoFit/>
          </a:bodyPr>
          <a:lstStyle/>
          <a:p>
            <a:r>
              <a:rPr lang="en-US" dirty="0"/>
              <a:t>Dark Center</a:t>
            </a:r>
          </a:p>
        </p:txBody>
      </p:sp>
      <p:sp>
        <p:nvSpPr>
          <p:cNvPr id="25" name="TextBox 24"/>
          <p:cNvSpPr txBox="1"/>
          <p:nvPr/>
        </p:nvSpPr>
        <p:spPr>
          <a:xfrm>
            <a:off x="5625885" y="2898185"/>
            <a:ext cx="1583410" cy="646331"/>
          </a:xfrm>
          <a:prstGeom prst="rect">
            <a:avLst/>
          </a:prstGeom>
          <a:noFill/>
        </p:spPr>
        <p:txBody>
          <a:bodyPr wrap="square" rtlCol="0">
            <a:spAutoFit/>
          </a:bodyPr>
          <a:lstStyle/>
          <a:p>
            <a:r>
              <a:rPr lang="en-US" dirty="0"/>
              <a:t>Small Off-Center Fringes</a:t>
            </a:r>
          </a:p>
        </p:txBody>
      </p:sp>
      <p:cxnSp>
        <p:nvCxnSpPr>
          <p:cNvPr id="27" name="Straight Arrow Connector 26"/>
          <p:cNvCxnSpPr/>
          <p:nvPr/>
        </p:nvCxnSpPr>
        <p:spPr>
          <a:xfrm flipV="1">
            <a:off x="2472794" y="5346959"/>
            <a:ext cx="1735810" cy="8524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H="1" flipV="1">
            <a:off x="4348089" y="5997887"/>
            <a:ext cx="278969" cy="44945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5244408" y="5204890"/>
            <a:ext cx="638013" cy="3358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4701153" y="3859077"/>
            <a:ext cx="1583410" cy="369332"/>
          </a:xfrm>
          <a:prstGeom prst="rect">
            <a:avLst/>
          </a:prstGeom>
          <a:noFill/>
        </p:spPr>
        <p:txBody>
          <a:bodyPr wrap="square" rtlCol="0">
            <a:spAutoFit/>
          </a:bodyPr>
          <a:lstStyle/>
          <a:p>
            <a:r>
              <a:rPr lang="en-US"/>
              <a:t>To Screen</a:t>
            </a:r>
            <a:endParaRPr lang="en-US" dirty="0"/>
          </a:p>
        </p:txBody>
      </p:sp>
      <p:cxnSp>
        <p:nvCxnSpPr>
          <p:cNvPr id="34" name="Straight Arrow Connector 33"/>
          <p:cNvCxnSpPr/>
          <p:nvPr/>
        </p:nvCxnSpPr>
        <p:spPr>
          <a:xfrm flipH="1" flipV="1">
            <a:off x="4500489" y="6150287"/>
            <a:ext cx="278969" cy="44945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H="1" flipV="1">
            <a:off x="4479010" y="3797085"/>
            <a:ext cx="5982" cy="6483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7D7969-F8E4-EB61-3B1F-AE04D00F3EA0}"/>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15797BE1-4114-5F60-B9CF-833AA7AA2D1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67433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Arc 15"/>
          <p:cNvSpPr/>
          <p:nvPr/>
        </p:nvSpPr>
        <p:spPr>
          <a:xfrm>
            <a:off x="4226859" y="3213846"/>
            <a:ext cx="3612776" cy="510989"/>
          </a:xfrm>
          <a:prstGeom prst="arc">
            <a:avLst>
              <a:gd name="adj1" fmla="val 10840119"/>
              <a:gd name="adj2" fmla="val 35156"/>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p:cNvSpPr/>
          <p:nvPr/>
        </p:nvSpPr>
        <p:spPr>
          <a:xfrm>
            <a:off x="1196788" y="3307977"/>
            <a:ext cx="1949824" cy="416858"/>
          </a:xfrm>
          <a:prstGeom prst="arc">
            <a:avLst>
              <a:gd name="adj1" fmla="val 10762635"/>
              <a:gd name="adj2" fmla="val 0"/>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Freeform 13"/>
          <p:cNvSpPr/>
          <p:nvPr/>
        </p:nvSpPr>
        <p:spPr>
          <a:xfrm>
            <a:off x="1573306" y="3886200"/>
            <a:ext cx="5970494" cy="1976718"/>
          </a:xfrm>
          <a:custGeom>
            <a:avLst/>
            <a:gdLst>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237129 w 5916706"/>
              <a:gd name="connsiteY7" fmla="*/ 255494 h 1909482"/>
              <a:gd name="connsiteX8" fmla="*/ 67235 w 5916706"/>
              <a:gd name="connsiteY8" fmla="*/ 268941 h 1909482"/>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331259 w 5916706"/>
              <a:gd name="connsiteY7" fmla="*/ 268941 h 1909482"/>
              <a:gd name="connsiteX8" fmla="*/ 67235 w 5916706"/>
              <a:gd name="connsiteY8" fmla="*/ 268941 h 1909482"/>
              <a:gd name="connsiteX0" fmla="*/ 0 w 5970494"/>
              <a:gd name="connsiteY0" fmla="*/ 0 h 1976718"/>
              <a:gd name="connsiteX1" fmla="*/ 26894 w 5970494"/>
              <a:gd name="connsiteY1" fmla="*/ 1909482 h 1976718"/>
              <a:gd name="connsiteX2" fmla="*/ 5970494 w 5970494"/>
              <a:gd name="connsiteY2" fmla="*/ 1976718 h 1976718"/>
              <a:gd name="connsiteX3" fmla="*/ 5876365 w 5970494"/>
              <a:gd name="connsiteY3" fmla="*/ 161365 h 1976718"/>
              <a:gd name="connsiteX4" fmla="*/ 2904565 w 5970494"/>
              <a:gd name="connsiteY4" fmla="*/ 121024 h 1976718"/>
              <a:gd name="connsiteX5" fmla="*/ 2891118 w 5970494"/>
              <a:gd name="connsiteY5" fmla="*/ 1452282 h 1976718"/>
              <a:gd name="connsiteX6" fmla="*/ 1264023 w 5970494"/>
              <a:gd name="connsiteY6" fmla="*/ 1452282 h 1976718"/>
              <a:gd name="connsiteX7" fmla="*/ 1331259 w 5970494"/>
              <a:gd name="connsiteY7" fmla="*/ 268941 h 1976718"/>
              <a:gd name="connsiteX8" fmla="*/ 67235 w 5970494"/>
              <a:gd name="connsiteY8" fmla="*/ 268941 h 1976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0494" h="1976718">
                <a:moveTo>
                  <a:pt x="0" y="0"/>
                </a:moveTo>
                <a:lnTo>
                  <a:pt x="26894" y="1909482"/>
                </a:lnTo>
                <a:lnTo>
                  <a:pt x="5970494" y="1976718"/>
                </a:lnTo>
                <a:lnTo>
                  <a:pt x="5876365" y="161365"/>
                </a:lnTo>
                <a:lnTo>
                  <a:pt x="2904565" y="121024"/>
                </a:lnTo>
                <a:lnTo>
                  <a:pt x="2891118" y="1452282"/>
                </a:lnTo>
                <a:lnTo>
                  <a:pt x="1264023" y="1452282"/>
                </a:lnTo>
                <a:lnTo>
                  <a:pt x="1331259" y="268941"/>
                </a:lnTo>
                <a:lnTo>
                  <a:pt x="67235" y="268941"/>
                </a:lnTo>
              </a:path>
            </a:pathLst>
          </a:cu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196789" y="3523128"/>
            <a:ext cx="389964" cy="227255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2841813" y="3509681"/>
            <a:ext cx="304800" cy="183328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196788" y="5795680"/>
            <a:ext cx="6629400" cy="43478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231342" y="3460375"/>
            <a:ext cx="246528" cy="185121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7454154" y="3473822"/>
            <a:ext cx="372034" cy="232186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2841811" y="5015754"/>
            <a:ext cx="1636059" cy="33617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p:cNvSpPr/>
          <p:nvPr/>
        </p:nvSpPr>
        <p:spPr>
          <a:xfrm>
            <a:off x="1586753" y="3442447"/>
            <a:ext cx="123713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1963270" y="3603811"/>
            <a:ext cx="628698" cy="584775"/>
          </a:xfrm>
          <a:prstGeom prst="rect">
            <a:avLst/>
          </a:prstGeom>
          <a:noFill/>
        </p:spPr>
        <p:txBody>
          <a:bodyPr wrap="none" rtlCol="0">
            <a:spAutoFit/>
          </a:bodyPr>
          <a:lstStyle/>
          <a:p>
            <a:r>
              <a:rPr lang="en-US" sz="3200" dirty="0"/>
              <a:t>A</a:t>
            </a:r>
            <a:r>
              <a:rPr lang="en-US" sz="3200" baseline="-25000" dirty="0"/>
              <a:t>in</a:t>
            </a:r>
          </a:p>
        </p:txBody>
      </p:sp>
      <p:sp>
        <p:nvSpPr>
          <p:cNvPr id="19" name="TextBox 18"/>
          <p:cNvSpPr txBox="1"/>
          <p:nvPr/>
        </p:nvSpPr>
        <p:spPr>
          <a:xfrm>
            <a:off x="1828800" y="1909482"/>
            <a:ext cx="628698" cy="646331"/>
          </a:xfrm>
          <a:prstGeom prst="rect">
            <a:avLst/>
          </a:prstGeom>
          <a:noFill/>
        </p:spPr>
        <p:txBody>
          <a:bodyPr wrap="none" rtlCol="0">
            <a:spAutoFit/>
          </a:bodyPr>
          <a:lstStyle/>
          <a:p>
            <a:r>
              <a:rPr lang="en-US" sz="3600" dirty="0"/>
              <a:t>F</a:t>
            </a:r>
            <a:r>
              <a:rPr lang="en-US" sz="3600" baseline="-25000" dirty="0"/>
              <a:t>in</a:t>
            </a:r>
          </a:p>
        </p:txBody>
      </p:sp>
      <p:sp>
        <p:nvSpPr>
          <p:cNvPr id="20" name="TextBox 19"/>
          <p:cNvSpPr txBox="1"/>
          <p:nvPr/>
        </p:nvSpPr>
        <p:spPr>
          <a:xfrm>
            <a:off x="5571565" y="676835"/>
            <a:ext cx="816377" cy="646331"/>
          </a:xfrm>
          <a:prstGeom prst="rect">
            <a:avLst/>
          </a:prstGeom>
          <a:noFill/>
        </p:spPr>
        <p:txBody>
          <a:bodyPr wrap="none" rtlCol="0">
            <a:spAutoFit/>
          </a:bodyPr>
          <a:lstStyle/>
          <a:p>
            <a:r>
              <a:rPr lang="en-US" sz="3600" dirty="0" err="1"/>
              <a:t>F</a:t>
            </a:r>
            <a:r>
              <a:rPr lang="en-US" sz="3600" baseline="-25000" dirty="0" err="1"/>
              <a:t>out</a:t>
            </a:r>
            <a:endParaRPr lang="en-US" sz="3600" baseline="-25000" dirty="0"/>
          </a:p>
        </p:txBody>
      </p:sp>
      <p:sp>
        <p:nvSpPr>
          <p:cNvPr id="21" name="Down Arrow 20"/>
          <p:cNvSpPr/>
          <p:nvPr/>
        </p:nvSpPr>
        <p:spPr>
          <a:xfrm rot="10800000">
            <a:off x="5029200" y="1438835"/>
            <a:ext cx="1775012" cy="645459"/>
          </a:xfrm>
          <a:prstGeom prst="downArrow">
            <a:avLst>
              <a:gd name="adj1" fmla="val 69697"/>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p:cNvSpPr/>
          <p:nvPr/>
        </p:nvSpPr>
        <p:spPr>
          <a:xfrm rot="10800000" flipV="1">
            <a:off x="1658471" y="2734234"/>
            <a:ext cx="1044388" cy="506508"/>
          </a:xfrm>
          <a:prstGeom prst="downArrow">
            <a:avLst>
              <a:gd name="adj1" fmla="val 50000"/>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n 4"/>
          <p:cNvSpPr/>
          <p:nvPr/>
        </p:nvSpPr>
        <p:spPr>
          <a:xfrm>
            <a:off x="4450976" y="3393141"/>
            <a:ext cx="2998694"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5746376" y="3527613"/>
            <a:ext cx="801823" cy="584775"/>
          </a:xfrm>
          <a:prstGeom prst="rect">
            <a:avLst/>
          </a:prstGeom>
          <a:noFill/>
        </p:spPr>
        <p:txBody>
          <a:bodyPr wrap="none" rtlCol="0">
            <a:spAutoFit/>
          </a:bodyPr>
          <a:lstStyle/>
          <a:p>
            <a:r>
              <a:rPr lang="en-US" sz="3200" dirty="0" err="1"/>
              <a:t>A</a:t>
            </a:r>
            <a:r>
              <a:rPr lang="en-US" sz="3200" baseline="-25000" dirty="0" err="1"/>
              <a:t>out</a:t>
            </a:r>
            <a:endParaRPr lang="en-US" sz="3200" baseline="-25000" dirty="0"/>
          </a:p>
        </p:txBody>
      </p:sp>
      <p:sp>
        <p:nvSpPr>
          <p:cNvPr id="7" name="Can 6"/>
          <p:cNvSpPr/>
          <p:nvPr/>
        </p:nvSpPr>
        <p:spPr>
          <a:xfrm>
            <a:off x="5329518" y="2761127"/>
            <a:ext cx="1277471"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n 5"/>
          <p:cNvSpPr/>
          <p:nvPr/>
        </p:nvSpPr>
        <p:spPr>
          <a:xfrm>
            <a:off x="4513729" y="2254624"/>
            <a:ext cx="295387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07753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Number Placeholder 5"/>
          <p:cNvSpPr>
            <a:spLocks noGrp="1"/>
          </p:cNvSpPr>
          <p:nvPr>
            <p:ph type="sldNum" sz="quarter" idx="12"/>
          </p:nvPr>
        </p:nvSpPr>
        <p:spPr>
          <a:noFill/>
        </p:spPr>
        <p:txBody>
          <a:bodyPr/>
          <a:lstStyle/>
          <a:p>
            <a:fld id="{9BB70A6A-6290-4C9F-8FE7-84BDC15ED7E8}" type="slidenum">
              <a:rPr lang="en-US" smtClean="0"/>
              <a:pPr/>
              <a:t>34</a:t>
            </a:fld>
            <a:endParaRPr lang="en-US"/>
          </a:p>
        </p:txBody>
      </p:sp>
      <p:sp>
        <p:nvSpPr>
          <p:cNvPr id="50179" name="Rectangle 2"/>
          <p:cNvSpPr>
            <a:spLocks noGrp="1" noChangeArrowheads="1"/>
          </p:cNvSpPr>
          <p:nvPr>
            <p:ph type="title"/>
          </p:nvPr>
        </p:nvSpPr>
        <p:spPr/>
        <p:txBody>
          <a:bodyPr/>
          <a:lstStyle/>
          <a:p>
            <a:pPr eaLnBrk="1" hangingPunct="1"/>
            <a:r>
              <a:rPr lang="en-US" dirty="0"/>
              <a:t>Question 123.5.1</a:t>
            </a:r>
          </a:p>
        </p:txBody>
      </p:sp>
      <p:sp>
        <p:nvSpPr>
          <p:cNvPr id="50180" name="Rectangle 3"/>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p:cNvGrpSpPr>
            <a:grpSpLocks/>
          </p:cNvGrpSpPr>
          <p:nvPr/>
        </p:nvGrpSpPr>
        <p:grpSpPr bwMode="auto">
          <a:xfrm>
            <a:off x="6381750" y="1385888"/>
            <a:ext cx="2097088" cy="5032375"/>
            <a:chOff x="4020" y="873"/>
            <a:chExt cx="1321" cy="3170"/>
          </a:xfrm>
        </p:grpSpPr>
        <p:grpSp>
          <p:nvGrpSpPr>
            <p:cNvPr id="50182" name="Group 36"/>
            <p:cNvGrpSpPr>
              <a:grpSpLocks/>
            </p:cNvGrpSpPr>
            <p:nvPr/>
          </p:nvGrpSpPr>
          <p:grpSpPr bwMode="auto">
            <a:xfrm>
              <a:off x="4343" y="3416"/>
              <a:ext cx="931" cy="627"/>
              <a:chOff x="3733" y="1510"/>
              <a:chExt cx="1416" cy="1628"/>
            </a:xfrm>
          </p:grpSpPr>
          <p:grpSp>
            <p:nvGrpSpPr>
              <p:cNvPr id="50198" name="Group 37"/>
              <p:cNvGrpSpPr>
                <a:grpSpLocks/>
              </p:cNvGrpSpPr>
              <p:nvPr/>
            </p:nvGrpSpPr>
            <p:grpSpPr bwMode="auto">
              <a:xfrm>
                <a:off x="3733" y="1514"/>
                <a:ext cx="1416" cy="1624"/>
                <a:chOff x="3596" y="1780"/>
                <a:chExt cx="1416" cy="1624"/>
              </a:xfrm>
            </p:grpSpPr>
            <p:sp>
              <p:nvSpPr>
                <p:cNvPr id="50203" name="Freeform 38"/>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p:cNvGrpSpPr>
              <a:grpSpLocks/>
            </p:cNvGrpSpPr>
            <p:nvPr/>
          </p:nvGrpSpPr>
          <p:grpSpPr bwMode="auto">
            <a:xfrm flipV="1">
              <a:off x="4734" y="1192"/>
              <a:ext cx="181" cy="2505"/>
              <a:chOff x="3162" y="2032"/>
              <a:chExt cx="931" cy="1161"/>
            </a:xfrm>
          </p:grpSpPr>
          <p:grpSp>
            <p:nvGrpSpPr>
              <p:cNvPr id="50193" name="Group 14"/>
              <p:cNvGrpSpPr>
                <a:grpSpLocks/>
              </p:cNvGrpSpPr>
              <p:nvPr/>
            </p:nvGrpSpPr>
            <p:grpSpPr bwMode="auto">
              <a:xfrm>
                <a:off x="3162" y="2035"/>
                <a:ext cx="931" cy="1158"/>
                <a:chOff x="3596" y="1780"/>
                <a:chExt cx="1416" cy="1624"/>
              </a:xfrm>
            </p:grpSpPr>
            <p:sp>
              <p:nvSpPr>
                <p:cNvPr id="50196" name="Freeform 1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693185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Number Placeholder 5"/>
          <p:cNvSpPr>
            <a:spLocks noGrp="1"/>
          </p:cNvSpPr>
          <p:nvPr>
            <p:ph type="sldNum" sz="quarter" idx="12"/>
          </p:nvPr>
        </p:nvSpPr>
        <p:spPr>
          <a:noFill/>
        </p:spPr>
        <p:txBody>
          <a:bodyPr/>
          <a:lstStyle/>
          <a:p>
            <a:fld id="{9EB7D927-867D-426B-B934-711C106A415A}" type="slidenum">
              <a:rPr lang="en-US" smtClean="0"/>
              <a:pPr/>
              <a:t>35</a:t>
            </a:fld>
            <a:endParaRPr lang="en-US"/>
          </a:p>
        </p:txBody>
      </p:sp>
      <p:sp>
        <p:nvSpPr>
          <p:cNvPr id="51203" name="Rectangle 2"/>
          <p:cNvSpPr>
            <a:spLocks noGrp="1" noChangeArrowheads="1"/>
          </p:cNvSpPr>
          <p:nvPr>
            <p:ph type="title"/>
          </p:nvPr>
        </p:nvSpPr>
        <p:spPr/>
        <p:txBody>
          <a:bodyPr/>
          <a:lstStyle/>
          <a:p>
            <a:pPr eaLnBrk="1" hangingPunct="1"/>
            <a:r>
              <a:rPr lang="en-US"/>
              <a:t>Question 123.5.2</a:t>
            </a:r>
          </a:p>
        </p:txBody>
      </p:sp>
      <p:sp>
        <p:nvSpPr>
          <p:cNvPr id="51204" name="Rectangle 3"/>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p:cNvGrpSpPr/>
          <p:nvPr/>
        </p:nvGrpSpPr>
        <p:grpSpPr>
          <a:xfrm>
            <a:off x="199572" y="1451429"/>
            <a:ext cx="3844604" cy="4793343"/>
            <a:chOff x="1143000" y="152400"/>
            <a:chExt cx="5392389" cy="6672943"/>
          </a:xfrm>
        </p:grpSpPr>
        <p:cxnSp>
          <p:nvCxnSpPr>
            <p:cNvPr id="6" name="Straight Connector 5"/>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2976564" y="2288722"/>
              <a:ext cx="2362200" cy="3657600"/>
              <a:chOff x="3048000" y="3200400"/>
              <a:chExt cx="2362200" cy="3657600"/>
            </a:xfrm>
          </p:grpSpPr>
          <p:sp>
            <p:nvSpPr>
              <p:cNvPr id="9" name="Rectangle 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21635969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p:nvPr/>
        </p:nvGrpSpPr>
        <p:grpSpPr>
          <a:xfrm>
            <a:off x="2726192" y="1268865"/>
            <a:ext cx="2657475" cy="4380820"/>
            <a:chOff x="3052763" y="300037"/>
            <a:chExt cx="2657475" cy="4380820"/>
          </a:xfrm>
        </p:grpSpPr>
        <p:grpSp>
          <p:nvGrpSpPr>
            <p:cNvPr id="38" name="Group 37"/>
            <p:cNvGrpSpPr/>
            <p:nvPr/>
          </p:nvGrpSpPr>
          <p:grpSpPr>
            <a:xfrm>
              <a:off x="3052763" y="300037"/>
              <a:ext cx="2657475" cy="4380820"/>
              <a:chOff x="3052763" y="300037"/>
              <a:chExt cx="2657475" cy="4380820"/>
            </a:xfrm>
          </p:grpSpPr>
          <p:grpSp>
            <p:nvGrpSpPr>
              <p:cNvPr id="5" name="Group 22"/>
              <p:cNvGrpSpPr>
                <a:grpSpLocks/>
              </p:cNvGrpSpPr>
              <p:nvPr/>
            </p:nvGrpSpPr>
            <p:grpSpPr bwMode="auto">
              <a:xfrm>
                <a:off x="3635375" y="3016250"/>
                <a:ext cx="2074863" cy="1664607"/>
                <a:chOff x="3596" y="1780"/>
                <a:chExt cx="1416" cy="1624"/>
              </a:xfrm>
            </p:grpSpPr>
            <p:sp>
              <p:nvSpPr>
                <p:cNvPr id="21"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227165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Date Placeholder 4"/>
          <p:cNvSpPr>
            <a:spLocks noGrp="1"/>
          </p:cNvSpPr>
          <p:nvPr>
            <p:ph type="dt" sz="quarter" idx="10"/>
          </p:nvPr>
        </p:nvSpPr>
        <p:spPr>
          <a:noFill/>
        </p:spPr>
        <p:txBody>
          <a:bodyPr/>
          <a:lstStyle/>
          <a:p>
            <a:r>
              <a:rPr lang="en-US"/>
              <a:t>Winter 2007</a:t>
            </a:r>
          </a:p>
        </p:txBody>
      </p:sp>
      <p:sp>
        <p:nvSpPr>
          <p:cNvPr id="6149" name="Footer Placeholder 5"/>
          <p:cNvSpPr>
            <a:spLocks noGrp="1"/>
          </p:cNvSpPr>
          <p:nvPr>
            <p:ph type="ftr" sz="quarter" idx="11"/>
          </p:nvPr>
        </p:nvSpPr>
        <p:spPr>
          <a:noFill/>
        </p:spPr>
        <p:txBody>
          <a:bodyPr/>
          <a:lstStyle/>
          <a:p>
            <a:r>
              <a:rPr lang="en-US"/>
              <a:t>R. Todd Lines</a:t>
            </a:r>
          </a:p>
        </p:txBody>
      </p:sp>
      <p:sp>
        <p:nvSpPr>
          <p:cNvPr id="6150" name="Slide Number Placeholder 6"/>
          <p:cNvSpPr>
            <a:spLocks noGrp="1"/>
          </p:cNvSpPr>
          <p:nvPr>
            <p:ph type="sldNum" sz="quarter" idx="12"/>
          </p:nvPr>
        </p:nvSpPr>
        <p:spPr>
          <a:noFill/>
        </p:spPr>
        <p:txBody>
          <a:bodyPr/>
          <a:lstStyle/>
          <a:p>
            <a:fld id="{AEF937B1-3B54-4162-AADD-A16FD8DBF1F9}" type="slidenum">
              <a:rPr lang="en-US" smtClean="0"/>
              <a:pPr/>
              <a:t>37</a:t>
            </a:fld>
            <a:endParaRPr lang="en-US"/>
          </a:p>
        </p:txBody>
      </p:sp>
      <p:sp>
        <p:nvSpPr>
          <p:cNvPr id="6151" name="Rectangle 2"/>
          <p:cNvSpPr>
            <a:spLocks noGrp="1" noChangeArrowheads="1"/>
          </p:cNvSpPr>
          <p:nvPr>
            <p:ph type="title"/>
          </p:nvPr>
        </p:nvSpPr>
        <p:spPr/>
        <p:txBody>
          <a:bodyPr/>
          <a:lstStyle/>
          <a:p>
            <a:pPr eaLnBrk="1" hangingPunct="1"/>
            <a:r>
              <a:rPr lang="en-US" sz="2800"/>
              <a:t>Pressure Measurement: Barometer</a:t>
            </a:r>
          </a:p>
        </p:txBody>
      </p:sp>
      <p:sp>
        <p:nvSpPr>
          <p:cNvPr id="6152"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296706" y="1377723"/>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Date Placeholder 4"/>
          <p:cNvSpPr>
            <a:spLocks noGrp="1"/>
          </p:cNvSpPr>
          <p:nvPr>
            <p:ph type="dt" sz="quarter" idx="10"/>
          </p:nvPr>
        </p:nvSpPr>
        <p:spPr>
          <a:noFill/>
        </p:spPr>
        <p:txBody>
          <a:bodyPr/>
          <a:lstStyle/>
          <a:p>
            <a:r>
              <a:rPr lang="en-US"/>
              <a:t>Winter 2007</a:t>
            </a:r>
          </a:p>
        </p:txBody>
      </p:sp>
      <p:sp>
        <p:nvSpPr>
          <p:cNvPr id="7173" name="Footer Placeholder 5"/>
          <p:cNvSpPr>
            <a:spLocks noGrp="1"/>
          </p:cNvSpPr>
          <p:nvPr>
            <p:ph type="ftr" sz="quarter" idx="11"/>
          </p:nvPr>
        </p:nvSpPr>
        <p:spPr>
          <a:noFill/>
        </p:spPr>
        <p:txBody>
          <a:bodyPr/>
          <a:lstStyle/>
          <a:p>
            <a:r>
              <a:rPr lang="en-US"/>
              <a:t>R. Todd Lines</a:t>
            </a:r>
          </a:p>
        </p:txBody>
      </p:sp>
      <p:sp>
        <p:nvSpPr>
          <p:cNvPr id="7174" name="Slide Number Placeholder 6"/>
          <p:cNvSpPr>
            <a:spLocks noGrp="1"/>
          </p:cNvSpPr>
          <p:nvPr>
            <p:ph type="sldNum" sz="quarter" idx="12"/>
          </p:nvPr>
        </p:nvSpPr>
        <p:spPr>
          <a:noFill/>
        </p:spPr>
        <p:txBody>
          <a:bodyPr/>
          <a:lstStyle/>
          <a:p>
            <a:fld id="{E199DD0C-DC71-4519-8A7C-B9CB2428176C}" type="slidenum">
              <a:rPr lang="en-US" smtClean="0"/>
              <a:pPr/>
              <a:t>38</a:t>
            </a:fld>
            <a:endParaRPr lang="en-US"/>
          </a:p>
        </p:txBody>
      </p:sp>
      <p:sp>
        <p:nvSpPr>
          <p:cNvPr id="7175" name="Rectangle 2"/>
          <p:cNvSpPr>
            <a:spLocks noGrp="1" noChangeArrowheads="1"/>
          </p:cNvSpPr>
          <p:nvPr>
            <p:ph type="title"/>
          </p:nvPr>
        </p:nvSpPr>
        <p:spPr/>
        <p:txBody>
          <a:bodyPr/>
          <a:lstStyle/>
          <a:p>
            <a:pPr eaLnBrk="1" hangingPunct="1"/>
            <a:r>
              <a:rPr lang="en-US" sz="2800"/>
              <a:t>Pressure Measurement: Barometer</a:t>
            </a:r>
          </a:p>
        </p:txBody>
      </p:sp>
      <p:sp>
        <p:nvSpPr>
          <p:cNvPr id="7176"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394677" y="1377722"/>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Straight Connector 38"/>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2976564" y="2288722"/>
            <a:ext cx="2362200" cy="3657600"/>
            <a:chOff x="3048000" y="3200400"/>
            <a:chExt cx="2362200" cy="3657600"/>
          </a:xfrm>
        </p:grpSpPr>
        <p:sp>
          <p:nvSpPr>
            <p:cNvPr id="19" name="Rectangle 1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11207381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49027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41</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a:t>F</a:t>
                </a:r>
                <a:r>
                  <a:rPr lang="en-US" i="1" baseline="-25000"/>
                  <a:t>g</a:t>
                </a:r>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6060808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42</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3837239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43</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2" name="Group 4"/>
          <p:cNvGrpSpPr>
            <a:grpSpLocks/>
          </p:cNvGrpSpPr>
          <p:nvPr/>
        </p:nvGrpSpPr>
        <p:grpSpPr bwMode="auto">
          <a:xfrm>
            <a:off x="4833938" y="2451100"/>
            <a:ext cx="4029075" cy="2611438"/>
            <a:chOff x="3045" y="1544"/>
            <a:chExt cx="2538" cy="1645"/>
          </a:xfrm>
        </p:grpSpPr>
        <p:grpSp>
          <p:nvGrpSpPr>
            <p:cNvPr id="3" name="Group 5"/>
            <p:cNvGrpSpPr>
              <a:grpSpLocks/>
            </p:cNvGrpSpPr>
            <p:nvPr/>
          </p:nvGrpSpPr>
          <p:grpSpPr bwMode="auto">
            <a:xfrm>
              <a:off x="3500" y="1565"/>
              <a:ext cx="1416" cy="1624"/>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3664" y="1865"/>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3664" y="1845"/>
              <a:ext cx="1076" cy="248"/>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3584"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4208"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4044" y="2061"/>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4204" y="1789"/>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4112" y="2701"/>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4320" y="2705"/>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0" name="Text Box 16"/>
            <p:cNvSpPr txBox="1">
              <a:spLocks noChangeArrowheads="1"/>
            </p:cNvSpPr>
            <p:nvPr/>
          </p:nvSpPr>
          <p:spPr bwMode="auto">
            <a:xfrm>
              <a:off x="3966" y="1544"/>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27671" name="Text Box 17"/>
            <p:cNvSpPr txBox="1">
              <a:spLocks noChangeArrowheads="1"/>
            </p:cNvSpPr>
            <p:nvPr/>
          </p:nvSpPr>
          <p:spPr bwMode="auto">
            <a:xfrm>
              <a:off x="3814" y="2860"/>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2" name="Rectangle 18"/>
            <p:cNvSpPr>
              <a:spLocks noChangeArrowheads="1"/>
            </p:cNvSpPr>
            <p:nvPr/>
          </p:nvSpPr>
          <p:spPr bwMode="auto">
            <a:xfrm>
              <a:off x="4362" y="2758"/>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27673" name="Line 19"/>
            <p:cNvSpPr>
              <a:spLocks noChangeShapeType="1"/>
            </p:cNvSpPr>
            <p:nvPr/>
          </p:nvSpPr>
          <p:spPr bwMode="auto">
            <a:xfrm flipH="1" flipV="1">
              <a:off x="4411" y="2426"/>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3778" y="2432"/>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4664" y="2021"/>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3562" y="202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3"/>
            <p:cNvGrpSpPr>
              <a:grpSpLocks/>
            </p:cNvGrpSpPr>
            <p:nvPr/>
          </p:nvGrpSpPr>
          <p:grpSpPr bwMode="auto">
            <a:xfrm>
              <a:off x="5031" y="1904"/>
              <a:ext cx="552" cy="231"/>
              <a:chOff x="2252" y="1684"/>
              <a:chExt cx="552" cy="231"/>
            </a:xfrm>
          </p:grpSpPr>
          <p:sp>
            <p:nvSpPr>
              <p:cNvPr id="27681" name="Text Box 24"/>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2" name="Freeform 25"/>
              <p:cNvSpPr>
                <a:spLocks/>
              </p:cNvSpPr>
              <p:nvPr/>
            </p:nvSpPr>
            <p:spPr bwMode="auto">
              <a:xfrm>
                <a:off x="2679" y="1717"/>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26"/>
            <p:cNvGrpSpPr>
              <a:grpSpLocks/>
            </p:cNvGrpSpPr>
            <p:nvPr/>
          </p:nvGrpSpPr>
          <p:grpSpPr bwMode="auto">
            <a:xfrm>
              <a:off x="3045" y="1928"/>
              <a:ext cx="504" cy="231"/>
              <a:chOff x="230" y="1468"/>
              <a:chExt cx="504" cy="231"/>
            </a:xfrm>
          </p:grpSpPr>
          <p:sp>
            <p:nvSpPr>
              <p:cNvPr id="27679" name="Text Box 27"/>
              <p:cNvSpPr txBox="1">
                <a:spLocks noChangeArrowheads="1"/>
              </p:cNvSpPr>
              <p:nvPr/>
            </p:nvSpPr>
            <p:spPr bwMode="auto">
              <a:xfrm>
                <a:off x="230" y="1468"/>
                <a:ext cx="504"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0" name="Freeform 28"/>
              <p:cNvSpPr>
                <a:spLocks/>
              </p:cNvSpPr>
              <p:nvPr/>
            </p:nvSpPr>
            <p:spPr bwMode="auto">
              <a:xfrm>
                <a:off x="615" y="1501"/>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grpSp>
        <p:nvGrpSpPr>
          <p:cNvPr id="6" name="Group 29"/>
          <p:cNvGrpSpPr>
            <a:grpSpLocks/>
          </p:cNvGrpSpPr>
          <p:nvPr/>
        </p:nvGrpSpPr>
        <p:grpSpPr bwMode="auto">
          <a:xfrm>
            <a:off x="8337550" y="4014788"/>
            <a:ext cx="446088" cy="855662"/>
            <a:chOff x="3845" y="3543"/>
            <a:chExt cx="514" cy="648"/>
          </a:xfrm>
        </p:grpSpPr>
        <p:sp>
          <p:nvSpPr>
            <p:cNvPr id="27657" name="Line 30"/>
            <p:cNvSpPr>
              <a:spLocks noChangeShapeType="1"/>
            </p:cNvSpPr>
            <p:nvPr/>
          </p:nvSpPr>
          <p:spPr bwMode="auto">
            <a:xfrm>
              <a:off x="3865" y="3682"/>
              <a:ext cx="0" cy="348"/>
            </a:xfrm>
            <a:prstGeom prst="line">
              <a:avLst/>
            </a:prstGeom>
            <a:noFill/>
            <a:ln w="9525">
              <a:solidFill>
                <a:schemeClr val="tx1"/>
              </a:solidFill>
              <a:round/>
              <a:headEnd type="arrow" w="med" len="med"/>
              <a:tailEnd/>
            </a:ln>
          </p:spPr>
          <p:txBody>
            <a:bodyPr/>
            <a:lstStyle/>
            <a:p>
              <a:endParaRPr lang="en-US"/>
            </a:p>
          </p:txBody>
        </p:sp>
        <p:sp>
          <p:nvSpPr>
            <p:cNvPr id="27658" name="Line 31"/>
            <p:cNvSpPr>
              <a:spLocks noChangeShapeType="1"/>
            </p:cNvSpPr>
            <p:nvPr/>
          </p:nvSpPr>
          <p:spPr bwMode="auto">
            <a:xfrm>
              <a:off x="3865" y="4030"/>
              <a:ext cx="300" cy="0"/>
            </a:xfrm>
            <a:prstGeom prst="line">
              <a:avLst/>
            </a:prstGeom>
            <a:noFill/>
            <a:ln w="9525">
              <a:solidFill>
                <a:schemeClr val="tx1"/>
              </a:solidFill>
              <a:round/>
              <a:headEnd/>
              <a:tailEnd type="arrow" w="med" len="med"/>
            </a:ln>
          </p:spPr>
          <p:txBody>
            <a:bodyPr/>
            <a:lstStyle/>
            <a:p>
              <a:endParaRPr lang="en-US"/>
            </a:p>
          </p:txBody>
        </p:sp>
        <p:sp>
          <p:nvSpPr>
            <p:cNvPr id="27659" name="Text Box 32"/>
            <p:cNvSpPr txBox="1">
              <a:spLocks noChangeArrowheads="1"/>
            </p:cNvSpPr>
            <p:nvPr/>
          </p:nvSpPr>
          <p:spPr bwMode="auto">
            <a:xfrm>
              <a:off x="3845" y="3543"/>
              <a:ext cx="271" cy="278"/>
            </a:xfrm>
            <a:prstGeom prst="rect">
              <a:avLst/>
            </a:prstGeom>
            <a:noFill/>
            <a:ln w="9525">
              <a:noFill/>
              <a:miter lim="800000"/>
              <a:headEnd/>
              <a:tailEnd/>
            </a:ln>
          </p:spPr>
          <p:txBody>
            <a:bodyPr wrap="none">
              <a:spAutoFit/>
            </a:bodyPr>
            <a:lstStyle/>
            <a:p>
              <a:r>
                <a:rPr lang="en-US"/>
                <a:t>j</a:t>
              </a:r>
            </a:p>
          </p:txBody>
        </p:sp>
        <p:sp>
          <p:nvSpPr>
            <p:cNvPr id="27660" name="Text Box 33"/>
            <p:cNvSpPr txBox="1">
              <a:spLocks noChangeArrowheads="1"/>
            </p:cNvSpPr>
            <p:nvPr/>
          </p:nvSpPr>
          <p:spPr bwMode="auto">
            <a:xfrm>
              <a:off x="4088" y="3913"/>
              <a:ext cx="271" cy="278"/>
            </a:xfrm>
            <a:prstGeom prst="rect">
              <a:avLst/>
            </a:prstGeom>
            <a:noFill/>
            <a:ln w="9525">
              <a:noFill/>
              <a:miter lim="800000"/>
              <a:headEnd/>
              <a:tailEnd/>
            </a:ln>
          </p:spPr>
          <p:txBody>
            <a:bodyPr wrap="none">
              <a:spAutoFit/>
            </a:bodyPr>
            <a:lstStyle/>
            <a:p>
              <a:r>
                <a:rPr lang="en-US"/>
                <a:t>i</a:t>
              </a: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44</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45</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8" name="Text Box 33"/>
            <p:cNvSpPr txBox="1">
              <a:spLocks noChangeArrowheads="1"/>
            </p:cNvSpPr>
            <p:nvPr/>
          </p:nvSpPr>
          <p:spPr bwMode="auto">
            <a:xfrm>
              <a:off x="2720" y="1982"/>
              <a:ext cx="591" cy="212"/>
            </a:xfrm>
            <a:prstGeom prst="rect">
              <a:avLst/>
            </a:prstGeom>
            <a:noFill/>
            <a:ln w="9525">
              <a:noFill/>
              <a:miter lim="800000"/>
              <a:headEnd/>
              <a:tailEnd/>
            </a:ln>
          </p:spPr>
          <p:txBody>
            <a:bodyPr wrap="none">
              <a:spAutoFit/>
            </a:bodyPr>
            <a:lstStyle/>
            <a:p>
              <a:r>
                <a:rPr lang="en-US" sz="1600" b="1"/>
                <a:t>F</a:t>
              </a:r>
              <a:r>
                <a:rPr lang="en-US" sz="1600" i="1" baseline="-25000"/>
                <a:t>t</a:t>
              </a:r>
              <a:r>
                <a:rPr lang="en-US" sz="1600" i="1"/>
                <a:t>=-P</a:t>
              </a:r>
              <a:r>
                <a:rPr lang="en-US" sz="1600" i="1" baseline="-25000"/>
                <a:t>o</a:t>
              </a:r>
              <a:r>
                <a:rPr lang="en-US" sz="1600" i="1"/>
                <a:t>A</a:t>
              </a:r>
              <a:r>
                <a:rPr lang="en-US" sz="1600" b="1" i="1">
                  <a:cs typeface="Arial" charset="0"/>
                </a:rPr>
                <a:t>ĵ</a:t>
              </a:r>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8220" name="Rectangle 35"/>
            <p:cNvSpPr>
              <a:spLocks noChangeArrowheads="1"/>
            </p:cNvSpPr>
            <p:nvPr/>
          </p:nvSpPr>
          <p:spPr bwMode="auto">
            <a:xfrm>
              <a:off x="2875" y="3122"/>
              <a:ext cx="524" cy="212"/>
            </a:xfrm>
            <a:prstGeom prst="rect">
              <a:avLst/>
            </a:prstGeom>
            <a:noFill/>
            <a:ln w="9525">
              <a:noFill/>
              <a:miter lim="800000"/>
              <a:headEnd/>
              <a:tailEnd/>
            </a:ln>
          </p:spPr>
          <p:txBody>
            <a:bodyPr wrap="none">
              <a:spAutoFit/>
            </a:bodyPr>
            <a:lstStyle/>
            <a:p>
              <a:r>
                <a:rPr lang="en-US" sz="1600" b="1"/>
                <a:t>F</a:t>
              </a:r>
              <a:r>
                <a:rPr lang="en-US" sz="1600" baseline="-25000"/>
                <a:t>b</a:t>
              </a:r>
              <a:r>
                <a:rPr lang="en-US" sz="1600"/>
                <a:t>=PA</a:t>
              </a:r>
              <a:r>
                <a:rPr lang="en-US" sz="1600" b="1"/>
                <a:t>ĵ</a:t>
              </a: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46</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417512" cy="366713"/>
          </a:xfrm>
          <a:prstGeom prst="rect">
            <a:avLst/>
          </a:prstGeom>
          <a:noFill/>
          <a:ln w="9525">
            <a:noFill/>
            <a:miter lim="800000"/>
            <a:headEnd/>
            <a:tailEnd/>
          </a:ln>
        </p:spPr>
        <p:txBody>
          <a:bodyPr wrap="none">
            <a:spAutoFit/>
          </a:bodyPr>
          <a:lstStyle/>
          <a:p>
            <a:r>
              <a:rPr lang="en-US" b="1"/>
              <a:t>F</a:t>
            </a:r>
            <a:r>
              <a:rPr lang="en-US" b="1" i="1" baseline="-25000"/>
              <a:t>g</a:t>
            </a:r>
            <a:endParaRPr lang="en-US" b="1" i="1" baseline="-2500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47</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48</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a:t>Assume                   and static equilibrium.</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We define </a:t>
            </a:r>
            <a:r>
              <a:rPr lang="en-US" sz="2400" i="1"/>
              <a:t>V</a:t>
            </a:r>
            <a:r>
              <a:rPr lang="en-US" sz="2400" i="1" baseline="-25000"/>
              <a:t>fluid</a:t>
            </a:r>
            <a:r>
              <a:rPr lang="en-US" sz="2400"/>
              <a:t> as the volume of the fluid displaced by the object. </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Then</a:t>
            </a:r>
          </a:p>
          <a:p>
            <a:pPr eaLnBrk="1" hangingPunct="1">
              <a:lnSpc>
                <a:spcPct val="80000"/>
              </a:lnSpc>
            </a:pPr>
            <a:endParaRPr lang="en-US" sz="240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p:graphicFrame>
        <p:nvGraphicFramePr>
          <p:cNvPr id="10242" name="Object 21"/>
          <p:cNvGraphicFramePr>
            <a:graphicFrameLocks noChangeAspect="1"/>
          </p:cNvGraphicFramePr>
          <p:nvPr/>
        </p:nvGraphicFramePr>
        <p:xfrm>
          <a:off x="2044700" y="1204913"/>
          <a:ext cx="1284288" cy="374650"/>
        </p:xfrm>
        <a:graphic>
          <a:graphicData uri="http://schemas.openxmlformats.org/presentationml/2006/ole">
            <mc:AlternateContent xmlns:mc="http://schemas.openxmlformats.org/markup-compatibility/2006">
              <mc:Choice xmlns:v="urn:schemas-microsoft-com:vml" Requires="v">
                <p:oleObj name="Equation" r:id="rId2" imgW="825480" imgH="241200" progId="Equation.3">
                  <p:embed/>
                </p:oleObj>
              </mc:Choice>
              <mc:Fallback>
                <p:oleObj name="Equation" r:id="rId2" imgW="825480" imgH="241200" progId="Equation.3">
                  <p:embed/>
                  <p:pic>
                    <p:nvPicPr>
                      <p:cNvPr id="10242" name="Object 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1204913"/>
                        <a:ext cx="1284288"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4" imgW="533160" imgH="241200" progId="Equation.3">
                  <p:embed/>
                </p:oleObj>
              </mc:Choice>
              <mc:Fallback>
                <p:oleObj name="Equation" r:id="rId4" imgW="533160" imgH="241200" progId="Equation.3">
                  <p:embed/>
                  <p:pic>
                    <p:nvPicPr>
                      <p:cNvPr id="10243"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6" imgW="965160" imgH="241200" progId="Equation.3">
                  <p:embed/>
                </p:oleObj>
              </mc:Choice>
              <mc:Fallback>
                <p:oleObj name="Equation" r:id="rId6" imgW="965160" imgH="241200" progId="Equation.3">
                  <p:embed/>
                  <p:pic>
                    <p:nvPicPr>
                      <p:cNvPr id="10244"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8" imgW="1701720" imgH="482400" progId="Equation.3">
                  <p:embed/>
                </p:oleObj>
              </mc:Choice>
              <mc:Fallback>
                <p:oleObj name="Equation" r:id="rId8" imgW="1701720" imgH="482400" progId="Equation.3">
                  <p:embed/>
                  <p:pic>
                    <p:nvPicPr>
                      <p:cNvPr id="10245" name="Object 2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10" imgW="901440" imgH="469800" progId="Equation.3">
                  <p:embed/>
                </p:oleObj>
              </mc:Choice>
              <mc:Fallback>
                <p:oleObj name="Equation" r:id="rId10" imgW="901440" imgH="469800" progId="Equation.3">
                  <p:embed/>
                  <p:pic>
                    <p:nvPicPr>
                      <p:cNvPr id="10246" name="Object 2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50</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26162347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51</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883463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52</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41884139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6565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345</TotalTime>
  <Words>1338</Words>
  <Application>Microsoft Office PowerPoint</Application>
  <PresentationFormat>On-screen Show (4:3)</PresentationFormat>
  <Paragraphs>286</Paragraphs>
  <Slides>53</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53</vt:i4>
      </vt:variant>
    </vt:vector>
  </HeadingPairs>
  <TitlesOfParts>
    <vt:vector size="59" baseType="lpstr">
      <vt:lpstr>Arial</vt:lpstr>
      <vt:lpstr>Calibri</vt:lpstr>
      <vt:lpstr>Symbol</vt:lpstr>
      <vt:lpstr>Times New Roman</vt:lpstr>
      <vt:lpstr>Office Theme</vt:lpstr>
      <vt:lpstr>Equation</vt:lpstr>
      <vt:lpstr>Lecture 20</vt:lpstr>
      <vt:lpstr>Question 223.8.2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223.8.2.5</vt:lpstr>
      <vt:lpstr>Question 223.8.3</vt:lpstr>
      <vt:lpstr>Question 223.8.4</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223.8.3</vt:lpstr>
      <vt:lpstr>Question 223.8.4</vt:lpstr>
      <vt:lpstr>PowerPoint Presentation</vt:lpstr>
      <vt:lpstr>PowerPoint Presentation</vt:lpstr>
      <vt:lpstr>PowerPoint Presentation</vt:lpstr>
      <vt:lpstr>End</vt:lpstr>
      <vt:lpstr>PowerPoint Presentation</vt:lpstr>
      <vt:lpstr>Question 123.5.1</vt:lpstr>
      <vt:lpstr>Question 123.5.2</vt:lpstr>
      <vt:lpstr>PowerPoint Presentation</vt:lpstr>
      <vt:lpstr>Pressure Measurement: Barometer</vt:lpstr>
      <vt:lpstr>Pressure Measurement: Barometer</vt:lpstr>
      <vt:lpstr>PowerPoint Presentation</vt:lpstr>
      <vt:lpstr>PowerPoint Presentation</vt:lpstr>
      <vt:lpstr>Question 123.5.3</vt:lpstr>
      <vt:lpstr>Question 123.5.3.5</vt:lpstr>
      <vt:lpstr>Buoyant Forces</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dc:title>
  <dc:creator>rtlines</dc:creator>
  <cp:lastModifiedBy>Todd Lines</cp:lastModifiedBy>
  <cp:revision>17</cp:revision>
  <dcterms:created xsi:type="dcterms:W3CDTF">2011-09-21T03:03:31Z</dcterms:created>
  <dcterms:modified xsi:type="dcterms:W3CDTF">2026-08-26T19:25:40Z</dcterms:modified>
</cp:coreProperties>
</file>